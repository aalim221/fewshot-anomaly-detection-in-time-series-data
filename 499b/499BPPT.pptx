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T Interphases" charset="1" panose="02000503020000020004"/>
      <p:regular r:id="rId19"/>
    </p:embeddedFont>
    <p:embeddedFont>
      <p:font typeface="Canva Sans Bold" charset="1" panose="020B0803030501040103"/>
      <p:regular r:id="rId20"/>
    </p:embeddedFont>
    <p:embeddedFont>
      <p:font typeface="TT Interphases Bold" charset="1" panose="02000803060000020004"/>
      <p:regular r:id="rId21"/>
    </p:embeddedFont>
    <p:embeddedFont>
      <p:font typeface="Nunito" charset="1" panose="00000000000000000000"/>
      <p:regular r:id="rId22"/>
    </p:embeddedFont>
    <p:embeddedFont>
      <p:font typeface="Nunito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grpSp>
        <p:nvGrpSpPr>
          <p:cNvPr name="Group 2" id="2"/>
          <p:cNvGrpSpPr/>
          <p:nvPr/>
        </p:nvGrpSpPr>
        <p:grpSpPr>
          <a:xfrm rot="0">
            <a:off x="12012930" y="1028700"/>
            <a:ext cx="5246370" cy="10057435"/>
            <a:chOff x="0" y="0"/>
            <a:chExt cx="812800" cy="1558160"/>
          </a:xfrm>
        </p:grpSpPr>
        <p:sp>
          <p:nvSpPr>
            <p:cNvPr name="Freeform 3" id="3"/>
            <p:cNvSpPr/>
            <p:nvPr/>
          </p:nvSpPr>
          <p:spPr>
            <a:xfrm flipH="false" flipV="false" rot="0">
              <a:off x="0" y="0"/>
              <a:ext cx="812800" cy="1558160"/>
            </a:xfrm>
            <a:custGeom>
              <a:avLst/>
              <a:gdLst/>
              <a:ahLst/>
              <a:cxnLst/>
              <a:rect r="r" b="b" t="t" l="l"/>
              <a:pathLst>
                <a:path h="1558160" w="812800">
                  <a:moveTo>
                    <a:pt x="91492" y="0"/>
                  </a:moveTo>
                  <a:lnTo>
                    <a:pt x="721308" y="0"/>
                  </a:lnTo>
                  <a:cubicBezTo>
                    <a:pt x="745573" y="0"/>
                    <a:pt x="768845" y="9639"/>
                    <a:pt x="786003" y="26797"/>
                  </a:cubicBezTo>
                  <a:cubicBezTo>
                    <a:pt x="803161" y="43955"/>
                    <a:pt x="812800" y="67227"/>
                    <a:pt x="812800" y="91492"/>
                  </a:cubicBezTo>
                  <a:lnTo>
                    <a:pt x="812800" y="1466668"/>
                  </a:lnTo>
                  <a:cubicBezTo>
                    <a:pt x="812800" y="1490933"/>
                    <a:pt x="803161" y="1514205"/>
                    <a:pt x="786003" y="1531363"/>
                  </a:cubicBezTo>
                  <a:cubicBezTo>
                    <a:pt x="768845" y="1548521"/>
                    <a:pt x="745573" y="1558160"/>
                    <a:pt x="721308" y="1558160"/>
                  </a:cubicBezTo>
                  <a:lnTo>
                    <a:pt x="91492" y="1558160"/>
                  </a:lnTo>
                  <a:cubicBezTo>
                    <a:pt x="67227" y="1558160"/>
                    <a:pt x="43955" y="1548521"/>
                    <a:pt x="26797" y="1531363"/>
                  </a:cubicBezTo>
                  <a:cubicBezTo>
                    <a:pt x="9639" y="1514205"/>
                    <a:pt x="0" y="1490933"/>
                    <a:pt x="0" y="1466668"/>
                  </a:cubicBezTo>
                  <a:lnTo>
                    <a:pt x="0" y="91492"/>
                  </a:lnTo>
                  <a:cubicBezTo>
                    <a:pt x="0" y="67227"/>
                    <a:pt x="9639" y="43955"/>
                    <a:pt x="26797" y="26797"/>
                  </a:cubicBezTo>
                  <a:cubicBezTo>
                    <a:pt x="43955" y="9639"/>
                    <a:pt x="67227" y="0"/>
                    <a:pt x="91492" y="0"/>
                  </a:cubicBezTo>
                  <a:close/>
                </a:path>
              </a:pathLst>
            </a:custGeom>
            <a:blipFill>
              <a:blip r:embed="rId2"/>
              <a:stretch>
                <a:fillRect l="-26681" t="0" r="-26681" b="0"/>
              </a:stretch>
            </a:blipFill>
          </p:spPr>
        </p:sp>
      </p:grpSp>
      <p:grpSp>
        <p:nvGrpSpPr>
          <p:cNvPr name="Group 4" id="4"/>
          <p:cNvGrpSpPr/>
          <p:nvPr/>
        </p:nvGrpSpPr>
        <p:grpSpPr>
          <a:xfrm rot="0">
            <a:off x="11443237" y="8223825"/>
            <a:ext cx="1835427" cy="1292741"/>
            <a:chOff x="0" y="0"/>
            <a:chExt cx="483405" cy="340475"/>
          </a:xfrm>
        </p:grpSpPr>
        <p:sp>
          <p:nvSpPr>
            <p:cNvPr name="Freeform 5" id="5"/>
            <p:cNvSpPr/>
            <p:nvPr/>
          </p:nvSpPr>
          <p:spPr>
            <a:xfrm flipH="false" flipV="false" rot="0">
              <a:off x="0" y="0"/>
              <a:ext cx="483405" cy="340475"/>
            </a:xfrm>
            <a:custGeom>
              <a:avLst/>
              <a:gdLst/>
              <a:ahLst/>
              <a:cxnLst/>
              <a:rect r="r" b="b" t="t" l="l"/>
              <a:pathLst>
                <a:path h="340475" w="483405">
                  <a:moveTo>
                    <a:pt x="170238" y="0"/>
                  </a:moveTo>
                  <a:lnTo>
                    <a:pt x="313167" y="0"/>
                  </a:lnTo>
                  <a:cubicBezTo>
                    <a:pt x="358317" y="0"/>
                    <a:pt x="401618" y="17936"/>
                    <a:pt x="433543" y="49861"/>
                  </a:cubicBezTo>
                  <a:cubicBezTo>
                    <a:pt x="465469" y="81787"/>
                    <a:pt x="483405" y="125088"/>
                    <a:pt x="483405" y="170238"/>
                  </a:cubicBezTo>
                  <a:lnTo>
                    <a:pt x="483405" y="170238"/>
                  </a:lnTo>
                  <a:cubicBezTo>
                    <a:pt x="483405" y="215387"/>
                    <a:pt x="465469" y="258688"/>
                    <a:pt x="433543" y="290614"/>
                  </a:cubicBezTo>
                  <a:cubicBezTo>
                    <a:pt x="401618" y="322539"/>
                    <a:pt x="358317" y="340475"/>
                    <a:pt x="313167" y="340475"/>
                  </a:cubicBezTo>
                  <a:lnTo>
                    <a:pt x="170238" y="340475"/>
                  </a:lnTo>
                  <a:cubicBezTo>
                    <a:pt x="125088" y="340475"/>
                    <a:pt x="81787" y="322539"/>
                    <a:pt x="49861" y="290614"/>
                  </a:cubicBezTo>
                  <a:cubicBezTo>
                    <a:pt x="17936" y="258688"/>
                    <a:pt x="0" y="215387"/>
                    <a:pt x="0" y="170238"/>
                  </a:cubicBezTo>
                  <a:lnTo>
                    <a:pt x="0" y="170238"/>
                  </a:lnTo>
                  <a:cubicBezTo>
                    <a:pt x="0" y="125088"/>
                    <a:pt x="17936" y="81787"/>
                    <a:pt x="49861" y="49861"/>
                  </a:cubicBezTo>
                  <a:cubicBezTo>
                    <a:pt x="81787" y="17936"/>
                    <a:pt x="125088" y="0"/>
                    <a:pt x="170238" y="0"/>
                  </a:cubicBezTo>
                  <a:close/>
                </a:path>
              </a:pathLst>
            </a:custGeom>
            <a:solidFill>
              <a:srgbClr val="FFF4E3"/>
            </a:solidFill>
          </p:spPr>
        </p:sp>
        <p:sp>
          <p:nvSpPr>
            <p:cNvPr name="TextBox 6" id="6"/>
            <p:cNvSpPr txBox="true"/>
            <p:nvPr/>
          </p:nvSpPr>
          <p:spPr>
            <a:xfrm>
              <a:off x="0" y="-38100"/>
              <a:ext cx="483405" cy="37857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1584747" y="7822591"/>
            <a:ext cx="805670" cy="805670"/>
          </a:xfrm>
          <a:custGeom>
            <a:avLst/>
            <a:gdLst/>
            <a:ahLst/>
            <a:cxnLst/>
            <a:rect r="r" b="b" t="t" l="l"/>
            <a:pathLst>
              <a:path h="805670" w="805670">
                <a:moveTo>
                  <a:pt x="0" y="0"/>
                </a:moveTo>
                <a:lnTo>
                  <a:pt x="805669" y="0"/>
                </a:lnTo>
                <a:lnTo>
                  <a:pt x="805669" y="805670"/>
                </a:lnTo>
                <a:lnTo>
                  <a:pt x="0" y="805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584747" y="9113731"/>
            <a:ext cx="805670" cy="805670"/>
          </a:xfrm>
          <a:custGeom>
            <a:avLst/>
            <a:gdLst/>
            <a:ahLst/>
            <a:cxnLst/>
            <a:rect r="r" b="b" t="t" l="l"/>
            <a:pathLst>
              <a:path h="805670" w="805670">
                <a:moveTo>
                  <a:pt x="0" y="0"/>
                </a:moveTo>
                <a:lnTo>
                  <a:pt x="805669" y="0"/>
                </a:lnTo>
                <a:lnTo>
                  <a:pt x="805669" y="805670"/>
                </a:lnTo>
                <a:lnTo>
                  <a:pt x="0" y="805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952938" y="8482091"/>
            <a:ext cx="12045100" cy="776209"/>
            <a:chOff x="0" y="0"/>
            <a:chExt cx="3172372" cy="204434"/>
          </a:xfrm>
        </p:grpSpPr>
        <p:sp>
          <p:nvSpPr>
            <p:cNvPr name="Freeform 10" id="10"/>
            <p:cNvSpPr/>
            <p:nvPr/>
          </p:nvSpPr>
          <p:spPr>
            <a:xfrm flipH="false" flipV="false" rot="0">
              <a:off x="0" y="0"/>
              <a:ext cx="3172372" cy="204434"/>
            </a:xfrm>
            <a:custGeom>
              <a:avLst/>
              <a:gdLst/>
              <a:ahLst/>
              <a:cxnLst/>
              <a:rect r="r" b="b" t="t" l="l"/>
              <a:pathLst>
                <a:path h="204434" w="3172372">
                  <a:moveTo>
                    <a:pt x="46920" y="0"/>
                  </a:moveTo>
                  <a:lnTo>
                    <a:pt x="3125452" y="0"/>
                  </a:lnTo>
                  <a:cubicBezTo>
                    <a:pt x="3137896" y="0"/>
                    <a:pt x="3149830" y="4943"/>
                    <a:pt x="3158629" y="13743"/>
                  </a:cubicBezTo>
                  <a:cubicBezTo>
                    <a:pt x="3167429" y="22542"/>
                    <a:pt x="3172372" y="34476"/>
                    <a:pt x="3172372" y="46920"/>
                  </a:cubicBezTo>
                  <a:lnTo>
                    <a:pt x="3172372" y="157513"/>
                  </a:lnTo>
                  <a:cubicBezTo>
                    <a:pt x="3172372" y="169957"/>
                    <a:pt x="3167429" y="181892"/>
                    <a:pt x="3158629" y="190691"/>
                  </a:cubicBezTo>
                  <a:cubicBezTo>
                    <a:pt x="3149830" y="199490"/>
                    <a:pt x="3137896" y="204434"/>
                    <a:pt x="3125452" y="204434"/>
                  </a:cubicBezTo>
                  <a:lnTo>
                    <a:pt x="46920" y="204434"/>
                  </a:lnTo>
                  <a:cubicBezTo>
                    <a:pt x="34476" y="204434"/>
                    <a:pt x="22542" y="199490"/>
                    <a:pt x="13743" y="190691"/>
                  </a:cubicBezTo>
                  <a:cubicBezTo>
                    <a:pt x="4943" y="181892"/>
                    <a:pt x="0" y="169957"/>
                    <a:pt x="0" y="157513"/>
                  </a:cubicBezTo>
                  <a:lnTo>
                    <a:pt x="0" y="46920"/>
                  </a:lnTo>
                  <a:cubicBezTo>
                    <a:pt x="0" y="34476"/>
                    <a:pt x="4943" y="22542"/>
                    <a:pt x="13743" y="13743"/>
                  </a:cubicBezTo>
                  <a:cubicBezTo>
                    <a:pt x="22542" y="4943"/>
                    <a:pt x="34476" y="0"/>
                    <a:pt x="46920" y="0"/>
                  </a:cubicBezTo>
                  <a:close/>
                </a:path>
              </a:pathLst>
            </a:custGeom>
            <a:solidFill>
              <a:srgbClr val="3C3A36"/>
            </a:solidFill>
          </p:spPr>
        </p:sp>
        <p:sp>
          <p:nvSpPr>
            <p:cNvPr name="TextBox 11" id="11"/>
            <p:cNvSpPr txBox="true"/>
            <p:nvPr/>
          </p:nvSpPr>
          <p:spPr>
            <a:xfrm>
              <a:off x="0" y="-38100"/>
              <a:ext cx="3172372" cy="24253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52155" y="8560831"/>
            <a:ext cx="4240365" cy="618728"/>
            <a:chOff x="0" y="0"/>
            <a:chExt cx="1116804" cy="162957"/>
          </a:xfrm>
        </p:grpSpPr>
        <p:sp>
          <p:nvSpPr>
            <p:cNvPr name="Freeform 13" id="13"/>
            <p:cNvSpPr/>
            <p:nvPr/>
          </p:nvSpPr>
          <p:spPr>
            <a:xfrm flipH="false" flipV="false" rot="0">
              <a:off x="0" y="0"/>
              <a:ext cx="1116804" cy="162957"/>
            </a:xfrm>
            <a:custGeom>
              <a:avLst/>
              <a:gdLst/>
              <a:ahLst/>
              <a:cxnLst/>
              <a:rect r="r" b="b" t="t" l="l"/>
              <a:pathLst>
                <a:path h="162957" w="1116804">
                  <a:moveTo>
                    <a:pt x="81479" y="0"/>
                  </a:moveTo>
                  <a:lnTo>
                    <a:pt x="1035325" y="0"/>
                  </a:lnTo>
                  <a:cubicBezTo>
                    <a:pt x="1080325" y="0"/>
                    <a:pt x="1116804" y="36479"/>
                    <a:pt x="1116804" y="81479"/>
                  </a:cubicBezTo>
                  <a:lnTo>
                    <a:pt x="1116804" y="81479"/>
                  </a:lnTo>
                  <a:cubicBezTo>
                    <a:pt x="1116804" y="103088"/>
                    <a:pt x="1108220" y="123812"/>
                    <a:pt x="1092939" y="139093"/>
                  </a:cubicBezTo>
                  <a:cubicBezTo>
                    <a:pt x="1077659" y="154373"/>
                    <a:pt x="1056935" y="162957"/>
                    <a:pt x="1035325" y="162957"/>
                  </a:cubicBezTo>
                  <a:lnTo>
                    <a:pt x="81479" y="162957"/>
                  </a:lnTo>
                  <a:cubicBezTo>
                    <a:pt x="59869" y="162957"/>
                    <a:pt x="39145" y="154373"/>
                    <a:pt x="23865" y="139093"/>
                  </a:cubicBezTo>
                  <a:cubicBezTo>
                    <a:pt x="8584" y="123812"/>
                    <a:pt x="0" y="103088"/>
                    <a:pt x="0" y="81479"/>
                  </a:cubicBezTo>
                  <a:lnTo>
                    <a:pt x="0" y="81479"/>
                  </a:lnTo>
                  <a:cubicBezTo>
                    <a:pt x="0" y="59869"/>
                    <a:pt x="8584" y="39145"/>
                    <a:pt x="23865" y="23865"/>
                  </a:cubicBezTo>
                  <a:cubicBezTo>
                    <a:pt x="39145" y="8584"/>
                    <a:pt x="59869" y="0"/>
                    <a:pt x="81479" y="0"/>
                  </a:cubicBezTo>
                  <a:close/>
                </a:path>
              </a:pathLst>
            </a:custGeom>
            <a:solidFill>
              <a:srgbClr val="FFF4E3"/>
            </a:solidFill>
          </p:spPr>
        </p:sp>
        <p:sp>
          <p:nvSpPr>
            <p:cNvPr name="TextBox 14" id="14"/>
            <p:cNvSpPr txBox="true"/>
            <p:nvPr/>
          </p:nvSpPr>
          <p:spPr>
            <a:xfrm>
              <a:off x="0" y="-38100"/>
              <a:ext cx="1116804" cy="20105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02844" y="379579"/>
            <a:ext cx="1100188" cy="618728"/>
            <a:chOff x="0" y="0"/>
            <a:chExt cx="289761" cy="162957"/>
          </a:xfrm>
        </p:grpSpPr>
        <p:sp>
          <p:nvSpPr>
            <p:cNvPr name="Freeform 16" id="16"/>
            <p:cNvSpPr/>
            <p:nvPr/>
          </p:nvSpPr>
          <p:spPr>
            <a:xfrm flipH="false" flipV="false" rot="0">
              <a:off x="0" y="0"/>
              <a:ext cx="289761" cy="162957"/>
            </a:xfrm>
            <a:custGeom>
              <a:avLst/>
              <a:gdLst/>
              <a:ahLst/>
              <a:cxnLst/>
              <a:rect r="r" b="b" t="t" l="l"/>
              <a:pathLst>
                <a:path h="162957" w="289761">
                  <a:moveTo>
                    <a:pt x="81479" y="0"/>
                  </a:moveTo>
                  <a:lnTo>
                    <a:pt x="208283" y="0"/>
                  </a:lnTo>
                  <a:cubicBezTo>
                    <a:pt x="229892" y="0"/>
                    <a:pt x="250617" y="8584"/>
                    <a:pt x="265897" y="23865"/>
                  </a:cubicBezTo>
                  <a:cubicBezTo>
                    <a:pt x="281177" y="39145"/>
                    <a:pt x="289761" y="59869"/>
                    <a:pt x="289761" y="81479"/>
                  </a:cubicBezTo>
                  <a:lnTo>
                    <a:pt x="289761" y="81479"/>
                  </a:lnTo>
                  <a:cubicBezTo>
                    <a:pt x="289761" y="103088"/>
                    <a:pt x="281177" y="123812"/>
                    <a:pt x="265897" y="139093"/>
                  </a:cubicBezTo>
                  <a:cubicBezTo>
                    <a:pt x="250617" y="154373"/>
                    <a:pt x="229892" y="162957"/>
                    <a:pt x="208283" y="162957"/>
                  </a:cubicBezTo>
                  <a:lnTo>
                    <a:pt x="81479" y="162957"/>
                  </a:lnTo>
                  <a:cubicBezTo>
                    <a:pt x="59869" y="162957"/>
                    <a:pt x="39145" y="154373"/>
                    <a:pt x="23865" y="139093"/>
                  </a:cubicBezTo>
                  <a:cubicBezTo>
                    <a:pt x="8584" y="123812"/>
                    <a:pt x="0" y="103088"/>
                    <a:pt x="0" y="81479"/>
                  </a:cubicBezTo>
                  <a:lnTo>
                    <a:pt x="0" y="81479"/>
                  </a:lnTo>
                  <a:cubicBezTo>
                    <a:pt x="0" y="59869"/>
                    <a:pt x="8584" y="39145"/>
                    <a:pt x="23865" y="23865"/>
                  </a:cubicBezTo>
                  <a:cubicBezTo>
                    <a:pt x="39145" y="8584"/>
                    <a:pt x="59869" y="0"/>
                    <a:pt x="81479" y="0"/>
                  </a:cubicBezTo>
                  <a:close/>
                </a:path>
              </a:pathLst>
            </a:custGeom>
            <a:solidFill>
              <a:srgbClr val="FFF4E3"/>
            </a:solidFill>
            <a:ln w="19050" cap="rnd">
              <a:solidFill>
                <a:srgbClr val="222223"/>
              </a:solidFill>
              <a:prstDash val="solid"/>
              <a:round/>
            </a:ln>
          </p:spPr>
        </p:sp>
        <p:sp>
          <p:nvSpPr>
            <p:cNvPr name="TextBox 17" id="17"/>
            <p:cNvSpPr txBox="true"/>
            <p:nvPr/>
          </p:nvSpPr>
          <p:spPr>
            <a:xfrm>
              <a:off x="0" y="-38100"/>
              <a:ext cx="289761" cy="20105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38613" y="477799"/>
            <a:ext cx="313541" cy="422287"/>
          </a:xfrm>
          <a:custGeom>
            <a:avLst/>
            <a:gdLst/>
            <a:ahLst/>
            <a:cxnLst/>
            <a:rect r="r" b="b" t="t" l="l"/>
            <a:pathLst>
              <a:path h="422287" w="313541">
                <a:moveTo>
                  <a:pt x="0" y="0"/>
                </a:moveTo>
                <a:lnTo>
                  <a:pt x="313542" y="0"/>
                </a:lnTo>
                <a:lnTo>
                  <a:pt x="313542" y="422287"/>
                </a:lnTo>
                <a:lnTo>
                  <a:pt x="0" y="4222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641545" y="8713986"/>
            <a:ext cx="3038130" cy="398144"/>
          </a:xfrm>
          <a:prstGeom prst="rect">
            <a:avLst/>
          </a:prstGeom>
        </p:spPr>
        <p:txBody>
          <a:bodyPr anchor="t" rtlCol="false" tIns="0" lIns="0" bIns="0" rIns="0">
            <a:spAutoFit/>
          </a:bodyPr>
          <a:lstStyle/>
          <a:p>
            <a:pPr algn="ctr" marL="0" indent="0" lvl="0">
              <a:lnSpc>
                <a:spcPts val="2879"/>
              </a:lnSpc>
            </a:pPr>
            <a:r>
              <a:rPr lang="en-US" sz="3199" spc="-83">
                <a:solidFill>
                  <a:srgbClr val="161412"/>
                </a:solidFill>
                <a:latin typeface="TT Interphases"/>
                <a:ea typeface="TT Interphases"/>
                <a:cs typeface="TT Interphases"/>
                <a:sym typeface="TT Interphases"/>
              </a:rPr>
              <a:t>Presentation</a:t>
            </a:r>
          </a:p>
        </p:txBody>
      </p:sp>
      <p:sp>
        <p:nvSpPr>
          <p:cNvPr name="TextBox 20" id="20"/>
          <p:cNvSpPr txBox="true"/>
          <p:nvPr/>
        </p:nvSpPr>
        <p:spPr>
          <a:xfrm rot="0">
            <a:off x="738613" y="1028700"/>
            <a:ext cx="10391082" cy="1685925"/>
          </a:xfrm>
          <a:prstGeom prst="rect">
            <a:avLst/>
          </a:prstGeom>
        </p:spPr>
        <p:txBody>
          <a:bodyPr anchor="t" rtlCol="false" tIns="0" lIns="0" bIns="0" rIns="0">
            <a:spAutoFit/>
          </a:bodyPr>
          <a:lstStyle/>
          <a:p>
            <a:pPr algn="l" marL="0" indent="0" lvl="0">
              <a:lnSpc>
                <a:spcPts val="4439"/>
              </a:lnSpc>
            </a:pPr>
            <a:r>
              <a:rPr lang="en-US" b="true" sz="3699" spc="-96">
                <a:solidFill>
                  <a:srgbClr val="222223"/>
                </a:solidFill>
                <a:latin typeface="Canva Sans Bold"/>
                <a:ea typeface="Canva Sans Bold"/>
                <a:cs typeface="Canva Sans Bold"/>
                <a:sym typeface="Canva Sans Bold"/>
              </a:rPr>
              <a:t>MaskAD: A Hybrid Few-Shot Masked Autoencoder and Siamese Network for Time-Series Anomaly Detection</a:t>
            </a:r>
          </a:p>
        </p:txBody>
      </p:sp>
      <p:sp>
        <p:nvSpPr>
          <p:cNvPr name="TextBox 21" id="21"/>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22" id="22"/>
          <p:cNvSpPr txBox="true"/>
          <p:nvPr/>
        </p:nvSpPr>
        <p:spPr>
          <a:xfrm rot="0">
            <a:off x="2275095" y="5262390"/>
            <a:ext cx="643443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A.Alim(2212073642)</a:t>
            </a:r>
          </a:p>
        </p:txBody>
      </p:sp>
      <p:sp>
        <p:nvSpPr>
          <p:cNvPr name="TextBox 23" id="23"/>
          <p:cNvSpPr txBox="true"/>
          <p:nvPr/>
        </p:nvSpPr>
        <p:spPr>
          <a:xfrm rot="0">
            <a:off x="2275095" y="6054235"/>
            <a:ext cx="8688660"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FareaMahdea(2132730642)</a:t>
            </a:r>
          </a:p>
        </p:txBody>
      </p:sp>
      <p:sp>
        <p:nvSpPr>
          <p:cNvPr name="TextBox 24" id="24"/>
          <p:cNvSpPr txBox="true"/>
          <p:nvPr/>
        </p:nvSpPr>
        <p:spPr>
          <a:xfrm rot="0">
            <a:off x="2275095" y="6998480"/>
            <a:ext cx="7731621"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Anik Barua(2211155642)</a:t>
            </a:r>
          </a:p>
        </p:txBody>
      </p:sp>
      <p:sp>
        <p:nvSpPr>
          <p:cNvPr name="TextBox 25" id="25"/>
          <p:cNvSpPr txBox="true"/>
          <p:nvPr/>
        </p:nvSpPr>
        <p:spPr>
          <a:xfrm rot="0">
            <a:off x="895384" y="3794270"/>
            <a:ext cx="1721867"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Team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grpSp>
        <p:nvGrpSpPr>
          <p:cNvPr name="Group 2" id="2"/>
          <p:cNvGrpSpPr/>
          <p:nvPr/>
        </p:nvGrpSpPr>
        <p:grpSpPr>
          <a:xfrm rot="0">
            <a:off x="10983805" y="1370145"/>
            <a:ext cx="7578809" cy="9189118"/>
            <a:chOff x="0" y="0"/>
            <a:chExt cx="1174156" cy="1423635"/>
          </a:xfrm>
        </p:grpSpPr>
        <p:sp>
          <p:nvSpPr>
            <p:cNvPr name="Freeform 3" id="3"/>
            <p:cNvSpPr/>
            <p:nvPr/>
          </p:nvSpPr>
          <p:spPr>
            <a:xfrm flipH="false" flipV="false" rot="0">
              <a:off x="0" y="0"/>
              <a:ext cx="1174156" cy="1423635"/>
            </a:xfrm>
            <a:custGeom>
              <a:avLst/>
              <a:gdLst/>
              <a:ahLst/>
              <a:cxnLst/>
              <a:rect r="r" b="b" t="t" l="l"/>
              <a:pathLst>
                <a:path h="1423635" w="1174156">
                  <a:moveTo>
                    <a:pt x="63334" y="0"/>
                  </a:moveTo>
                  <a:lnTo>
                    <a:pt x="1110822" y="0"/>
                  </a:lnTo>
                  <a:cubicBezTo>
                    <a:pt x="1145800" y="0"/>
                    <a:pt x="1174156" y="28356"/>
                    <a:pt x="1174156" y="63334"/>
                  </a:cubicBezTo>
                  <a:lnTo>
                    <a:pt x="1174156" y="1360300"/>
                  </a:lnTo>
                  <a:cubicBezTo>
                    <a:pt x="1174156" y="1395279"/>
                    <a:pt x="1145800" y="1423635"/>
                    <a:pt x="1110822" y="1423635"/>
                  </a:cubicBezTo>
                  <a:lnTo>
                    <a:pt x="63334" y="1423635"/>
                  </a:lnTo>
                  <a:cubicBezTo>
                    <a:pt x="46537" y="1423635"/>
                    <a:pt x="30428" y="1416962"/>
                    <a:pt x="18550" y="1405085"/>
                  </a:cubicBezTo>
                  <a:cubicBezTo>
                    <a:pt x="6673" y="1393207"/>
                    <a:pt x="0" y="1377098"/>
                    <a:pt x="0" y="1360300"/>
                  </a:cubicBezTo>
                  <a:lnTo>
                    <a:pt x="0" y="63334"/>
                  </a:lnTo>
                  <a:cubicBezTo>
                    <a:pt x="0" y="28356"/>
                    <a:pt x="28356" y="0"/>
                    <a:pt x="63334" y="0"/>
                  </a:cubicBezTo>
                  <a:close/>
                </a:path>
              </a:pathLst>
            </a:custGeom>
            <a:blipFill>
              <a:blip r:embed="rId2"/>
              <a:stretch>
                <a:fillRect l="-41350" t="0" r="-41350" b="0"/>
              </a:stretch>
            </a:blipFill>
          </p:spPr>
        </p:sp>
      </p:grpSp>
      <p:sp>
        <p:nvSpPr>
          <p:cNvPr name="TextBox 4" id="4"/>
          <p:cNvSpPr txBox="true"/>
          <p:nvPr/>
        </p:nvSpPr>
        <p:spPr>
          <a:xfrm rot="0">
            <a:off x="4069089" y="285750"/>
            <a:ext cx="10149822"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INTRODUCTION</a:t>
            </a:r>
          </a:p>
        </p:txBody>
      </p:sp>
      <p:sp>
        <p:nvSpPr>
          <p:cNvPr name="TextBox 5" id="5"/>
          <p:cNvSpPr txBox="true"/>
          <p:nvPr/>
        </p:nvSpPr>
        <p:spPr>
          <a:xfrm rot="0">
            <a:off x="1278271" y="1887986"/>
            <a:ext cx="9291982" cy="6913114"/>
          </a:xfrm>
          <a:prstGeom prst="rect">
            <a:avLst/>
          </a:prstGeom>
        </p:spPr>
        <p:txBody>
          <a:bodyPr anchor="t" rtlCol="false" tIns="0" lIns="0" bIns="0" rIns="0">
            <a:spAutoFit/>
          </a:bodyPr>
          <a:lstStyle/>
          <a:p>
            <a:pPr algn="l">
              <a:lnSpc>
                <a:spcPts val="3961"/>
              </a:lnSpc>
            </a:pPr>
            <a:r>
              <a:rPr lang="en-US" sz="2912" spc="-72">
                <a:solidFill>
                  <a:srgbClr val="222223"/>
                </a:solidFill>
                <a:latin typeface="Nunito"/>
                <a:ea typeface="Nunito"/>
                <a:cs typeface="Nunito"/>
                <a:sym typeface="Nunito"/>
              </a:rPr>
              <a:t>A</a:t>
            </a:r>
            <a:r>
              <a:rPr lang="en-US" sz="2912" spc="-72">
                <a:solidFill>
                  <a:srgbClr val="222223"/>
                </a:solidFill>
                <a:latin typeface="Nunito"/>
                <a:ea typeface="Nunito"/>
                <a:cs typeface="Nunito"/>
                <a:sym typeface="Nunito"/>
              </a:rPr>
              <a:t>nomaly detection is the process of identifying unusual patterns in data that do not conform to normal behavior. It is widely used in areas like finance, cybersecurity, healthcare, and sensor monitoring.</a:t>
            </a:r>
          </a:p>
          <a:p>
            <a:pPr algn="l">
              <a:lnSpc>
                <a:spcPts val="3961"/>
              </a:lnSpc>
            </a:pPr>
            <a:r>
              <a:rPr lang="en-US" sz="2912" spc="-72">
                <a:solidFill>
                  <a:srgbClr val="222223"/>
                </a:solidFill>
                <a:latin typeface="Nunito"/>
                <a:ea typeface="Nunito"/>
                <a:cs typeface="Nunito"/>
                <a:sym typeface="Nunito"/>
              </a:rPr>
              <a:t>Traditional statistical methods like Z-score can detect simple outliers but are not effective for complex sequential data. To overcome this, this project uses a hybrid deep learning approach combining a Masked Autoencoder and a Siamese Triplet Network to learn meaningful representations of normal behavior and detect anomalies.</a:t>
            </a:r>
          </a:p>
          <a:p>
            <a:pPr algn="l">
              <a:lnSpc>
                <a:spcPts val="3961"/>
              </a:lnSpc>
            </a:pPr>
            <a:r>
              <a:rPr lang="en-US" sz="2912" spc="-72">
                <a:solidFill>
                  <a:srgbClr val="222223"/>
                </a:solidFill>
                <a:latin typeface="Nunito"/>
                <a:ea typeface="Nunito"/>
                <a:cs typeface="Nunito"/>
                <a:sym typeface="Nunito"/>
              </a:rPr>
              <a:t>The system is evaluated using the NAB dataset and compared with a Z-score baseline to demonstrate improved performance in detecting real-world anomalies.</a:t>
            </a:r>
          </a:p>
          <a:p>
            <a:pPr algn="l">
              <a:lnSpc>
                <a:spcPts val="3961"/>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3705752" y="242611"/>
            <a:ext cx="13553548"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PROBLEM STATEMENT</a:t>
            </a:r>
          </a:p>
        </p:txBody>
      </p:sp>
      <p:sp>
        <p:nvSpPr>
          <p:cNvPr name="TextBox 3" id="3"/>
          <p:cNvSpPr txBox="true"/>
          <p:nvPr/>
        </p:nvSpPr>
        <p:spPr>
          <a:xfrm rot="0">
            <a:off x="4076753" y="2273053"/>
            <a:ext cx="10134495" cy="4606291"/>
          </a:xfrm>
          <a:prstGeom prst="rect">
            <a:avLst/>
          </a:prstGeom>
        </p:spPr>
        <p:txBody>
          <a:bodyPr anchor="t" rtlCol="false" tIns="0" lIns="0" bIns="0" rIns="0">
            <a:spAutoFit/>
          </a:bodyPr>
          <a:lstStyle/>
          <a:p>
            <a:pPr algn="l" marL="647694" indent="-323847" lvl="1">
              <a:lnSpc>
                <a:spcPts val="4079"/>
              </a:lnSpc>
              <a:buFont typeface="Arial"/>
              <a:buChar char="•"/>
            </a:pPr>
            <a:r>
              <a:rPr lang="en-US" sz="2999" spc="-74">
                <a:solidFill>
                  <a:srgbClr val="222223"/>
                </a:solidFill>
                <a:latin typeface="Nunito"/>
                <a:ea typeface="Nunito"/>
                <a:cs typeface="Nunito"/>
                <a:sym typeface="Nunito"/>
              </a:rPr>
              <a:t>Limited availability of labeled anomaly data</a:t>
            </a:r>
          </a:p>
          <a:p>
            <a:pPr algn="l" marL="647694" indent="-323847" lvl="1">
              <a:lnSpc>
                <a:spcPts val="4079"/>
              </a:lnSpc>
              <a:buFont typeface="Arial"/>
              <a:buChar char="•"/>
            </a:pPr>
            <a:r>
              <a:rPr lang="en-US" sz="2999" spc="-74">
                <a:solidFill>
                  <a:srgbClr val="222223"/>
                </a:solidFill>
                <a:latin typeface="Nunito"/>
                <a:ea typeface="Nunito"/>
                <a:cs typeface="Nunito"/>
                <a:sym typeface="Nunito"/>
              </a:rPr>
              <a:t>Severe imbalance between normal and anomalous samples</a:t>
            </a:r>
          </a:p>
          <a:p>
            <a:pPr algn="l" marL="647694" indent="-323847" lvl="1">
              <a:lnSpc>
                <a:spcPts val="4079"/>
              </a:lnSpc>
              <a:buFont typeface="Arial"/>
              <a:buChar char="•"/>
            </a:pPr>
            <a:r>
              <a:rPr lang="en-US" sz="2999" spc="-74">
                <a:solidFill>
                  <a:srgbClr val="222223"/>
                </a:solidFill>
                <a:latin typeface="Nunito"/>
                <a:ea typeface="Nunito"/>
                <a:cs typeface="Nunito"/>
                <a:sym typeface="Nunito"/>
              </a:rPr>
              <a:t>Traditional models require large datasets</a:t>
            </a:r>
          </a:p>
          <a:p>
            <a:pPr algn="l" marL="647694" indent="-323847" lvl="1">
              <a:lnSpc>
                <a:spcPts val="4079"/>
              </a:lnSpc>
              <a:buFont typeface="Arial"/>
              <a:buChar char="•"/>
            </a:pPr>
            <a:r>
              <a:rPr lang="en-US" sz="2999" spc="-74">
                <a:solidFill>
                  <a:srgbClr val="222223"/>
                </a:solidFill>
                <a:latin typeface="Nunito"/>
                <a:ea typeface="Nunito"/>
                <a:cs typeface="Nunito"/>
                <a:sym typeface="Nunito"/>
              </a:rPr>
              <a:t>Poor generalization to real-world scenarios</a:t>
            </a:r>
          </a:p>
          <a:p>
            <a:pPr algn="l" marL="647694" indent="-323847" lvl="1">
              <a:lnSpc>
                <a:spcPts val="4079"/>
              </a:lnSpc>
              <a:buFont typeface="Arial"/>
              <a:buChar char="•"/>
            </a:pPr>
            <a:r>
              <a:rPr lang="en-US" sz="2999" spc="-74">
                <a:solidFill>
                  <a:srgbClr val="222223"/>
                </a:solidFill>
                <a:latin typeface="Nunito"/>
                <a:ea typeface="Nunito"/>
                <a:cs typeface="Nunito"/>
                <a:sym typeface="Nunito"/>
              </a:rPr>
              <a:t>Difficulty in capturing complex temporal patterns</a:t>
            </a:r>
          </a:p>
          <a:p>
            <a:pPr algn="l" marL="647694" indent="-323847" lvl="1">
              <a:lnSpc>
                <a:spcPts val="4079"/>
              </a:lnSpc>
              <a:buFont typeface="Arial"/>
              <a:buChar char="•"/>
            </a:pPr>
            <a:r>
              <a:rPr lang="en-US" sz="2999" spc="-74">
                <a:solidFill>
                  <a:srgbClr val="222223"/>
                </a:solidFill>
                <a:latin typeface="Nunito"/>
                <a:ea typeface="Nunito"/>
                <a:cs typeface="Nunito"/>
                <a:sym typeface="Nunito"/>
              </a:rPr>
              <a:t>High false positives and false negatives in baseline methods</a:t>
            </a:r>
          </a:p>
          <a:p>
            <a:pPr algn="l">
              <a:lnSpc>
                <a:spcPts val="40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grpSp>
        <p:nvGrpSpPr>
          <p:cNvPr name="Group 2" id="2"/>
          <p:cNvGrpSpPr/>
          <p:nvPr/>
        </p:nvGrpSpPr>
        <p:grpSpPr>
          <a:xfrm rot="0">
            <a:off x="7091625" y="6135513"/>
            <a:ext cx="12695725" cy="3442202"/>
            <a:chOff x="0" y="0"/>
            <a:chExt cx="3343730" cy="906588"/>
          </a:xfrm>
        </p:grpSpPr>
        <p:sp>
          <p:nvSpPr>
            <p:cNvPr name="Freeform 3" id="3"/>
            <p:cNvSpPr/>
            <p:nvPr/>
          </p:nvSpPr>
          <p:spPr>
            <a:xfrm flipH="false" flipV="false" rot="0">
              <a:off x="0" y="0"/>
              <a:ext cx="3343730" cy="906588"/>
            </a:xfrm>
            <a:custGeom>
              <a:avLst/>
              <a:gdLst/>
              <a:ahLst/>
              <a:cxnLst/>
              <a:rect r="r" b="b" t="t" l="l"/>
              <a:pathLst>
                <a:path h="906588" w="3343730">
                  <a:moveTo>
                    <a:pt x="44516" y="0"/>
                  </a:moveTo>
                  <a:lnTo>
                    <a:pt x="3299214" y="0"/>
                  </a:lnTo>
                  <a:cubicBezTo>
                    <a:pt x="3311020" y="0"/>
                    <a:pt x="3322343" y="4690"/>
                    <a:pt x="3330692" y="13038"/>
                  </a:cubicBezTo>
                  <a:cubicBezTo>
                    <a:pt x="3339040" y="21387"/>
                    <a:pt x="3343730" y="32709"/>
                    <a:pt x="3343730" y="44516"/>
                  </a:cubicBezTo>
                  <a:lnTo>
                    <a:pt x="3343730" y="862072"/>
                  </a:lnTo>
                  <a:cubicBezTo>
                    <a:pt x="3343730" y="873879"/>
                    <a:pt x="3339040" y="885201"/>
                    <a:pt x="3330692" y="893550"/>
                  </a:cubicBezTo>
                  <a:cubicBezTo>
                    <a:pt x="3322343" y="901898"/>
                    <a:pt x="3311020" y="906588"/>
                    <a:pt x="3299214" y="906588"/>
                  </a:cubicBezTo>
                  <a:lnTo>
                    <a:pt x="44516" y="906588"/>
                  </a:lnTo>
                  <a:cubicBezTo>
                    <a:pt x="32709" y="906588"/>
                    <a:pt x="21387" y="901898"/>
                    <a:pt x="13038" y="893550"/>
                  </a:cubicBezTo>
                  <a:cubicBezTo>
                    <a:pt x="4690" y="885201"/>
                    <a:pt x="0" y="873879"/>
                    <a:pt x="0" y="862072"/>
                  </a:cubicBezTo>
                  <a:lnTo>
                    <a:pt x="0" y="44516"/>
                  </a:lnTo>
                  <a:cubicBezTo>
                    <a:pt x="0" y="32709"/>
                    <a:pt x="4690" y="21387"/>
                    <a:pt x="13038" y="13038"/>
                  </a:cubicBezTo>
                  <a:cubicBezTo>
                    <a:pt x="21387" y="4690"/>
                    <a:pt x="32709" y="0"/>
                    <a:pt x="44516" y="0"/>
                  </a:cubicBezTo>
                  <a:close/>
                </a:path>
              </a:pathLst>
            </a:custGeom>
            <a:solidFill>
              <a:srgbClr val="FFF4E3"/>
            </a:solidFill>
          </p:spPr>
        </p:sp>
        <p:sp>
          <p:nvSpPr>
            <p:cNvPr name="TextBox 4" id="4"/>
            <p:cNvSpPr txBox="true"/>
            <p:nvPr/>
          </p:nvSpPr>
          <p:spPr>
            <a:xfrm>
              <a:off x="0" y="-38100"/>
              <a:ext cx="3343730" cy="9446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28846" y="5595279"/>
            <a:ext cx="1080470" cy="1080470"/>
          </a:xfrm>
          <a:custGeom>
            <a:avLst/>
            <a:gdLst/>
            <a:ahLst/>
            <a:cxnLst/>
            <a:rect r="r" b="b" t="t" l="l"/>
            <a:pathLst>
              <a:path h="1080470" w="1080470">
                <a:moveTo>
                  <a:pt x="0" y="0"/>
                </a:moveTo>
                <a:lnTo>
                  <a:pt x="1080470" y="0"/>
                </a:lnTo>
                <a:lnTo>
                  <a:pt x="1080470" y="1080469"/>
                </a:lnTo>
                <a:lnTo>
                  <a:pt x="0" y="10804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928846" y="9037480"/>
            <a:ext cx="1080470" cy="1080470"/>
          </a:xfrm>
          <a:custGeom>
            <a:avLst/>
            <a:gdLst/>
            <a:ahLst/>
            <a:cxnLst/>
            <a:rect r="r" b="b" t="t" l="l"/>
            <a:pathLst>
              <a:path h="1080470" w="1080470">
                <a:moveTo>
                  <a:pt x="0" y="0"/>
                </a:moveTo>
                <a:lnTo>
                  <a:pt x="1080470" y="0"/>
                </a:lnTo>
                <a:lnTo>
                  <a:pt x="1080470" y="1080470"/>
                </a:lnTo>
                <a:lnTo>
                  <a:pt x="0" y="108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1777077"/>
            <a:ext cx="18288000" cy="7481223"/>
            <a:chOff x="0" y="0"/>
            <a:chExt cx="4816593" cy="1970363"/>
          </a:xfrm>
        </p:grpSpPr>
        <p:sp>
          <p:nvSpPr>
            <p:cNvPr name="Freeform 8" id="8"/>
            <p:cNvSpPr/>
            <p:nvPr/>
          </p:nvSpPr>
          <p:spPr>
            <a:xfrm flipH="false" flipV="false" rot="0">
              <a:off x="0" y="0"/>
              <a:ext cx="4816592" cy="1970363"/>
            </a:xfrm>
            <a:custGeom>
              <a:avLst/>
              <a:gdLst/>
              <a:ahLst/>
              <a:cxnLst/>
              <a:rect r="r" b="b" t="t" l="l"/>
              <a:pathLst>
                <a:path h="1970363" w="4816592">
                  <a:moveTo>
                    <a:pt x="30903" y="0"/>
                  </a:moveTo>
                  <a:lnTo>
                    <a:pt x="4785689" y="0"/>
                  </a:lnTo>
                  <a:cubicBezTo>
                    <a:pt x="4793885" y="0"/>
                    <a:pt x="4801746" y="3256"/>
                    <a:pt x="4807541" y="9051"/>
                  </a:cubicBezTo>
                  <a:cubicBezTo>
                    <a:pt x="4813336" y="14847"/>
                    <a:pt x="4816592" y="22707"/>
                    <a:pt x="4816592" y="30903"/>
                  </a:cubicBezTo>
                  <a:lnTo>
                    <a:pt x="4816592" y="1939460"/>
                  </a:lnTo>
                  <a:cubicBezTo>
                    <a:pt x="4816592" y="1947656"/>
                    <a:pt x="4813336" y="1955516"/>
                    <a:pt x="4807541" y="1961312"/>
                  </a:cubicBezTo>
                  <a:cubicBezTo>
                    <a:pt x="4801746" y="1967108"/>
                    <a:pt x="4793885" y="1970363"/>
                    <a:pt x="4785689" y="1970363"/>
                  </a:cubicBezTo>
                  <a:lnTo>
                    <a:pt x="30903" y="1970363"/>
                  </a:lnTo>
                  <a:cubicBezTo>
                    <a:pt x="22707" y="1970363"/>
                    <a:pt x="14847" y="1967108"/>
                    <a:pt x="9051" y="1961312"/>
                  </a:cubicBezTo>
                  <a:cubicBezTo>
                    <a:pt x="3256" y="1955516"/>
                    <a:pt x="0" y="1947656"/>
                    <a:pt x="0" y="1939460"/>
                  </a:cubicBezTo>
                  <a:lnTo>
                    <a:pt x="0" y="30903"/>
                  </a:lnTo>
                  <a:cubicBezTo>
                    <a:pt x="0" y="22707"/>
                    <a:pt x="3256" y="14847"/>
                    <a:pt x="9051" y="9051"/>
                  </a:cubicBezTo>
                  <a:cubicBezTo>
                    <a:pt x="14847" y="3256"/>
                    <a:pt x="22707" y="0"/>
                    <a:pt x="30903" y="0"/>
                  </a:cubicBezTo>
                  <a:close/>
                </a:path>
              </a:pathLst>
            </a:custGeom>
            <a:solidFill>
              <a:srgbClr val="3C3A36"/>
            </a:solidFill>
          </p:spPr>
        </p:sp>
        <p:sp>
          <p:nvSpPr>
            <p:cNvPr name="TextBox 9" id="9"/>
            <p:cNvSpPr txBox="true"/>
            <p:nvPr/>
          </p:nvSpPr>
          <p:spPr>
            <a:xfrm>
              <a:off x="0" y="-38100"/>
              <a:ext cx="4816593" cy="200846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128034" y="548353"/>
            <a:ext cx="11559119"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OBJECTIVES</a:t>
            </a:r>
          </a:p>
        </p:txBody>
      </p:sp>
      <p:sp>
        <p:nvSpPr>
          <p:cNvPr name="TextBox 11" id="11"/>
          <p:cNvSpPr txBox="true"/>
          <p:nvPr/>
        </p:nvSpPr>
        <p:spPr>
          <a:xfrm rot="0">
            <a:off x="3879675" y="3764674"/>
            <a:ext cx="10220932" cy="4091941"/>
          </a:xfrm>
          <a:prstGeom prst="rect">
            <a:avLst/>
          </a:prstGeom>
        </p:spPr>
        <p:txBody>
          <a:bodyPr anchor="t" rtlCol="false" tIns="0" lIns="0" bIns="0" rIns="0">
            <a:spAutoFit/>
          </a:bodyPr>
          <a:lstStyle/>
          <a:p>
            <a:pPr algn="l" marL="647694" indent="-323847" lvl="1">
              <a:lnSpc>
                <a:spcPts val="4079"/>
              </a:lnSpc>
              <a:buFont typeface="Arial"/>
              <a:buChar char="•"/>
            </a:pPr>
            <a:r>
              <a:rPr lang="en-US" sz="2999" spc="-74">
                <a:solidFill>
                  <a:srgbClr val="FFFFFF"/>
                </a:solidFill>
                <a:latin typeface="Nunito"/>
                <a:ea typeface="Nunito"/>
                <a:cs typeface="Nunito"/>
                <a:sym typeface="Nunito"/>
              </a:rPr>
              <a:t>Learn normal patterns from time-series data</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Detect anomalies using limited labeled samples</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Improve feature representation and embedding quality</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Enhance separation between normal and anomalous data</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Reduce false positives and false negatives</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Achieve high precision, recall, and F1-score</a:t>
            </a:r>
          </a:p>
          <a:p>
            <a:pPr algn="l">
              <a:lnSpc>
                <a:spcPts val="4079"/>
              </a:lnSpc>
            </a:pPr>
          </a:p>
          <a:p>
            <a:pPr algn="l">
              <a:lnSpc>
                <a:spcPts val="407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952938" y="6896101"/>
            <a:ext cx="8153181"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DATASET</a:t>
            </a:r>
          </a:p>
        </p:txBody>
      </p:sp>
      <p:grpSp>
        <p:nvGrpSpPr>
          <p:cNvPr name="Group 3" id="3"/>
          <p:cNvGrpSpPr/>
          <p:nvPr/>
        </p:nvGrpSpPr>
        <p:grpSpPr>
          <a:xfrm rot="0">
            <a:off x="-925362" y="-2042971"/>
            <a:ext cx="19676240" cy="7233655"/>
            <a:chOff x="0" y="0"/>
            <a:chExt cx="3048364" cy="1120682"/>
          </a:xfrm>
        </p:grpSpPr>
        <p:sp>
          <p:nvSpPr>
            <p:cNvPr name="Freeform 4" id="4"/>
            <p:cNvSpPr/>
            <p:nvPr/>
          </p:nvSpPr>
          <p:spPr>
            <a:xfrm flipH="false" flipV="false" rot="-100243">
              <a:off x="-14988" y="-43499"/>
              <a:ext cx="3078341" cy="1207681"/>
            </a:xfrm>
            <a:custGeom>
              <a:avLst/>
              <a:gdLst/>
              <a:ahLst/>
              <a:cxnLst/>
              <a:rect r="r" b="b" t="t" l="l"/>
              <a:pathLst>
                <a:path h="1207681" w="3078341">
                  <a:moveTo>
                    <a:pt x="56357" y="10"/>
                  </a:moveTo>
                  <a:lnTo>
                    <a:pt x="3054657" y="87464"/>
                  </a:lnTo>
                  <a:cubicBezTo>
                    <a:pt x="3061124" y="87653"/>
                    <a:pt x="3067252" y="90403"/>
                    <a:pt x="3071691" y="95109"/>
                  </a:cubicBezTo>
                  <a:cubicBezTo>
                    <a:pt x="3076131" y="99815"/>
                    <a:pt x="3078519" y="106093"/>
                    <a:pt x="3078330" y="112560"/>
                  </a:cubicBezTo>
                  <a:lnTo>
                    <a:pt x="3047079" y="1183997"/>
                  </a:lnTo>
                  <a:cubicBezTo>
                    <a:pt x="3046890" y="1190464"/>
                    <a:pt x="3044140" y="1196591"/>
                    <a:pt x="3039434" y="1201031"/>
                  </a:cubicBezTo>
                  <a:cubicBezTo>
                    <a:pt x="3034728" y="1205471"/>
                    <a:pt x="3028450" y="1207859"/>
                    <a:pt x="3021983" y="1207670"/>
                  </a:cubicBezTo>
                  <a:lnTo>
                    <a:pt x="23683" y="1120216"/>
                  </a:lnTo>
                  <a:cubicBezTo>
                    <a:pt x="17216" y="1120028"/>
                    <a:pt x="11089" y="1117278"/>
                    <a:pt x="6649" y="1112571"/>
                  </a:cubicBezTo>
                  <a:cubicBezTo>
                    <a:pt x="2210" y="1107865"/>
                    <a:pt x="-178" y="1101588"/>
                    <a:pt x="10" y="1095121"/>
                  </a:cubicBezTo>
                  <a:lnTo>
                    <a:pt x="31262" y="23684"/>
                  </a:lnTo>
                  <a:cubicBezTo>
                    <a:pt x="31450" y="17216"/>
                    <a:pt x="34200" y="11089"/>
                    <a:pt x="38907" y="6649"/>
                  </a:cubicBezTo>
                  <a:cubicBezTo>
                    <a:pt x="43613" y="2210"/>
                    <a:pt x="49890" y="-178"/>
                    <a:pt x="56357" y="10"/>
                  </a:cubicBezTo>
                  <a:close/>
                </a:path>
              </a:pathLst>
            </a:custGeom>
            <a:blipFill>
              <a:blip r:embed="rId2"/>
              <a:stretch>
                <a:fillRect l="-3123" t="-147091" r="-22" b="-146925"/>
              </a:stretch>
            </a:blipFill>
          </p:spPr>
        </p:sp>
      </p:grpSp>
      <p:grpSp>
        <p:nvGrpSpPr>
          <p:cNvPr name="Group 5" id="5"/>
          <p:cNvGrpSpPr/>
          <p:nvPr/>
        </p:nvGrpSpPr>
        <p:grpSpPr>
          <a:xfrm rot="0">
            <a:off x="9678483" y="1028700"/>
            <a:ext cx="7591804" cy="8229600"/>
            <a:chOff x="0" y="0"/>
            <a:chExt cx="1999488" cy="2167467"/>
          </a:xfrm>
        </p:grpSpPr>
        <p:sp>
          <p:nvSpPr>
            <p:cNvPr name="Freeform 6" id="6"/>
            <p:cNvSpPr/>
            <p:nvPr/>
          </p:nvSpPr>
          <p:spPr>
            <a:xfrm flipH="false" flipV="false" rot="0">
              <a:off x="0" y="0"/>
              <a:ext cx="1999488" cy="2167467"/>
            </a:xfrm>
            <a:custGeom>
              <a:avLst/>
              <a:gdLst/>
              <a:ahLst/>
              <a:cxnLst/>
              <a:rect r="r" b="b" t="t" l="l"/>
              <a:pathLst>
                <a:path h="2167467" w="1999488">
                  <a:moveTo>
                    <a:pt x="74443" y="0"/>
                  </a:moveTo>
                  <a:lnTo>
                    <a:pt x="1925044" y="0"/>
                  </a:lnTo>
                  <a:cubicBezTo>
                    <a:pt x="1966158" y="0"/>
                    <a:pt x="1999488" y="33329"/>
                    <a:pt x="1999488" y="74443"/>
                  </a:cubicBezTo>
                  <a:lnTo>
                    <a:pt x="1999488" y="2093023"/>
                  </a:lnTo>
                  <a:cubicBezTo>
                    <a:pt x="1999488" y="2134137"/>
                    <a:pt x="1966158" y="2167467"/>
                    <a:pt x="1925044" y="2167467"/>
                  </a:cubicBezTo>
                  <a:lnTo>
                    <a:pt x="74443" y="2167467"/>
                  </a:lnTo>
                  <a:cubicBezTo>
                    <a:pt x="33329" y="2167467"/>
                    <a:pt x="0" y="2134137"/>
                    <a:pt x="0" y="2093023"/>
                  </a:cubicBezTo>
                  <a:lnTo>
                    <a:pt x="0" y="74443"/>
                  </a:lnTo>
                  <a:cubicBezTo>
                    <a:pt x="0" y="33329"/>
                    <a:pt x="33329" y="0"/>
                    <a:pt x="74443" y="0"/>
                  </a:cubicBezTo>
                  <a:close/>
                </a:path>
              </a:pathLst>
            </a:custGeom>
            <a:solidFill>
              <a:srgbClr val="FFF4E3"/>
            </a:solidFill>
            <a:ln w="19050" cap="rnd">
              <a:solidFill>
                <a:srgbClr val="000000"/>
              </a:solidFill>
              <a:prstDash val="solid"/>
              <a:round/>
            </a:ln>
          </p:spPr>
        </p:sp>
        <p:sp>
          <p:nvSpPr>
            <p:cNvPr name="TextBox 7" id="7"/>
            <p:cNvSpPr txBox="true"/>
            <p:nvPr/>
          </p:nvSpPr>
          <p:spPr>
            <a:xfrm>
              <a:off x="0" y="-38100"/>
              <a:ext cx="1999488" cy="22055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9678483" y="1877064"/>
            <a:ext cx="7580817" cy="6876812"/>
            <a:chOff x="0" y="0"/>
            <a:chExt cx="1996594" cy="1811177"/>
          </a:xfrm>
        </p:grpSpPr>
        <p:sp>
          <p:nvSpPr>
            <p:cNvPr name="Freeform 9" id="9"/>
            <p:cNvSpPr/>
            <p:nvPr/>
          </p:nvSpPr>
          <p:spPr>
            <a:xfrm flipH="false" flipV="false" rot="0">
              <a:off x="0" y="0"/>
              <a:ext cx="1996594" cy="1811177"/>
            </a:xfrm>
            <a:custGeom>
              <a:avLst/>
              <a:gdLst/>
              <a:ahLst/>
              <a:cxnLst/>
              <a:rect r="r" b="b" t="t" l="l"/>
              <a:pathLst>
                <a:path h="1811177" w="1996594">
                  <a:moveTo>
                    <a:pt x="74551" y="0"/>
                  </a:moveTo>
                  <a:lnTo>
                    <a:pt x="1922043" y="0"/>
                  </a:lnTo>
                  <a:cubicBezTo>
                    <a:pt x="1963216" y="0"/>
                    <a:pt x="1996594" y="33378"/>
                    <a:pt x="1996594" y="74551"/>
                  </a:cubicBezTo>
                  <a:lnTo>
                    <a:pt x="1996594" y="1736625"/>
                  </a:lnTo>
                  <a:cubicBezTo>
                    <a:pt x="1996594" y="1777799"/>
                    <a:pt x="1963216" y="1811177"/>
                    <a:pt x="1922043" y="1811177"/>
                  </a:cubicBezTo>
                  <a:lnTo>
                    <a:pt x="74551" y="1811177"/>
                  </a:lnTo>
                  <a:cubicBezTo>
                    <a:pt x="33378" y="1811177"/>
                    <a:pt x="0" y="1777799"/>
                    <a:pt x="0" y="1736625"/>
                  </a:cubicBezTo>
                  <a:lnTo>
                    <a:pt x="0" y="74551"/>
                  </a:lnTo>
                  <a:cubicBezTo>
                    <a:pt x="0" y="33378"/>
                    <a:pt x="33378" y="0"/>
                    <a:pt x="74551" y="0"/>
                  </a:cubicBezTo>
                  <a:close/>
                </a:path>
              </a:pathLst>
            </a:custGeom>
            <a:solidFill>
              <a:srgbClr val="3C3A36"/>
            </a:solidFill>
            <a:ln cap="rnd">
              <a:noFill/>
              <a:prstDash val="solid"/>
              <a:round/>
            </a:ln>
          </p:spPr>
        </p:sp>
        <p:sp>
          <p:nvSpPr>
            <p:cNvPr name="TextBox 10" id="10"/>
            <p:cNvSpPr txBox="true"/>
            <p:nvPr/>
          </p:nvSpPr>
          <p:spPr>
            <a:xfrm>
              <a:off x="0" y="-38100"/>
              <a:ext cx="1996594" cy="184927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9952886" y="2090185"/>
            <a:ext cx="6737968" cy="6663691"/>
          </a:xfrm>
          <a:prstGeom prst="rect">
            <a:avLst/>
          </a:prstGeom>
        </p:spPr>
        <p:txBody>
          <a:bodyPr anchor="t" rtlCol="false" tIns="0" lIns="0" bIns="0" rIns="0">
            <a:spAutoFit/>
          </a:bodyPr>
          <a:lstStyle/>
          <a:p>
            <a:pPr algn="l" marL="647694" indent="-323847" lvl="1">
              <a:lnSpc>
                <a:spcPts val="4079"/>
              </a:lnSpc>
              <a:buFont typeface="Arial"/>
              <a:buChar char="•"/>
            </a:pPr>
            <a:r>
              <a:rPr lang="en-US" sz="2999" spc="-74">
                <a:solidFill>
                  <a:srgbClr val="FFFFFF"/>
                </a:solidFill>
                <a:latin typeface="Nunito"/>
                <a:ea typeface="Nunito"/>
                <a:cs typeface="Nunito"/>
                <a:sym typeface="Nunito"/>
              </a:rPr>
              <a:t>Datas</a:t>
            </a:r>
            <a:r>
              <a:rPr lang="en-US" sz="2999" spc="-74">
                <a:solidFill>
                  <a:srgbClr val="FFFFFF"/>
                </a:solidFill>
                <a:latin typeface="Nunito"/>
                <a:ea typeface="Nunito"/>
                <a:cs typeface="Nunito"/>
                <a:sym typeface="Nunito"/>
              </a:rPr>
              <a:t>et used: NAB (Numenta Anomaly Benchmark)</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Contains real-world time-series data</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Includes labeled anomaly events</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Data sources: sensors, system metrics, server logs</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Preprocessing steps:</a:t>
            </a:r>
          </a:p>
          <a:p>
            <a:pPr algn="l" marL="1295387" indent="-431796" lvl="2">
              <a:lnSpc>
                <a:spcPts val="4079"/>
              </a:lnSpc>
              <a:buFont typeface="Arial"/>
              <a:buChar char="⚬"/>
            </a:pPr>
            <a:r>
              <a:rPr lang="en-US" sz="2999" spc="-74">
                <a:solidFill>
                  <a:srgbClr val="FFFFFF"/>
                </a:solidFill>
                <a:latin typeface="Nunito"/>
                <a:ea typeface="Nunito"/>
                <a:cs typeface="Nunito"/>
                <a:sym typeface="Nunito"/>
              </a:rPr>
              <a:t>Handling missing values (interpolation)</a:t>
            </a:r>
          </a:p>
          <a:p>
            <a:pPr algn="l" marL="1295387" indent="-431796" lvl="2">
              <a:lnSpc>
                <a:spcPts val="4079"/>
              </a:lnSpc>
              <a:buFont typeface="Arial"/>
              <a:buChar char="⚬"/>
            </a:pPr>
            <a:r>
              <a:rPr lang="en-US" sz="2999" spc="-74">
                <a:solidFill>
                  <a:srgbClr val="FFFFFF"/>
                </a:solidFill>
                <a:latin typeface="Nunito"/>
                <a:ea typeface="Nunito"/>
                <a:cs typeface="Nunito"/>
                <a:sym typeface="Nunito"/>
              </a:rPr>
              <a:t>Normalization (scaling data)</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Sliding window technique used for sequence generation</a:t>
            </a:r>
          </a:p>
          <a:p>
            <a:pPr algn="l">
              <a:lnSpc>
                <a:spcPts val="4079"/>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grpSp>
        <p:nvGrpSpPr>
          <p:cNvPr name="Group 2" id="2"/>
          <p:cNvGrpSpPr/>
          <p:nvPr/>
        </p:nvGrpSpPr>
        <p:grpSpPr>
          <a:xfrm rot="0">
            <a:off x="410763" y="1709232"/>
            <a:ext cx="7667680" cy="3270054"/>
            <a:chOff x="0" y="0"/>
            <a:chExt cx="2019471" cy="861249"/>
          </a:xfrm>
        </p:grpSpPr>
        <p:sp>
          <p:nvSpPr>
            <p:cNvPr name="Freeform 3" id="3"/>
            <p:cNvSpPr/>
            <p:nvPr/>
          </p:nvSpPr>
          <p:spPr>
            <a:xfrm flipH="false" flipV="false" rot="0">
              <a:off x="0" y="0"/>
              <a:ext cx="2019471" cy="861249"/>
            </a:xfrm>
            <a:custGeom>
              <a:avLst/>
              <a:gdLst/>
              <a:ahLst/>
              <a:cxnLst/>
              <a:rect r="r" b="b" t="t" l="l"/>
              <a:pathLst>
                <a:path h="861249" w="2019471">
                  <a:moveTo>
                    <a:pt x="73707" y="0"/>
                  </a:moveTo>
                  <a:lnTo>
                    <a:pt x="1945765" y="0"/>
                  </a:lnTo>
                  <a:cubicBezTo>
                    <a:pt x="1986472" y="0"/>
                    <a:pt x="2019471" y="33000"/>
                    <a:pt x="2019471" y="73707"/>
                  </a:cubicBezTo>
                  <a:lnTo>
                    <a:pt x="2019471" y="787542"/>
                  </a:lnTo>
                  <a:cubicBezTo>
                    <a:pt x="2019471" y="828249"/>
                    <a:pt x="1986472" y="861249"/>
                    <a:pt x="1945765" y="861249"/>
                  </a:cubicBezTo>
                  <a:lnTo>
                    <a:pt x="73707" y="861249"/>
                  </a:lnTo>
                  <a:cubicBezTo>
                    <a:pt x="33000" y="861249"/>
                    <a:pt x="0" y="828249"/>
                    <a:pt x="0" y="787542"/>
                  </a:cubicBezTo>
                  <a:lnTo>
                    <a:pt x="0" y="73707"/>
                  </a:lnTo>
                  <a:cubicBezTo>
                    <a:pt x="0" y="33000"/>
                    <a:pt x="33000" y="0"/>
                    <a:pt x="73707" y="0"/>
                  </a:cubicBezTo>
                  <a:close/>
                </a:path>
              </a:pathLst>
            </a:custGeom>
            <a:solidFill>
              <a:srgbClr val="A69B8A"/>
            </a:solidFill>
            <a:ln w="19050" cap="rnd">
              <a:solidFill>
                <a:srgbClr val="000000"/>
              </a:solidFill>
              <a:prstDash val="solid"/>
              <a:round/>
            </a:ln>
          </p:spPr>
        </p:sp>
        <p:sp>
          <p:nvSpPr>
            <p:cNvPr name="TextBox 4" id="4"/>
            <p:cNvSpPr txBox="true"/>
            <p:nvPr/>
          </p:nvSpPr>
          <p:spPr>
            <a:xfrm>
              <a:off x="0" y="-38100"/>
              <a:ext cx="2019471" cy="89934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596240" y="1916906"/>
            <a:ext cx="2216342" cy="2854707"/>
            <a:chOff x="0" y="0"/>
            <a:chExt cx="583728" cy="751857"/>
          </a:xfrm>
        </p:grpSpPr>
        <p:sp>
          <p:nvSpPr>
            <p:cNvPr name="Freeform 6" id="6"/>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gradFill rotWithShape="true">
              <a:gsLst>
                <a:gs pos="0">
                  <a:srgbClr val="000000">
                    <a:alpha val="100000"/>
                  </a:srgbClr>
                </a:gs>
                <a:gs pos="100000">
                  <a:srgbClr val="737373">
                    <a:alpha val="100000"/>
                  </a:srgbClr>
                </a:gs>
              </a:gsLst>
              <a:lin ang="0"/>
            </a:gradFill>
            <a:ln w="19050" cap="rnd">
              <a:solidFill>
                <a:srgbClr val="000000"/>
              </a:solidFill>
              <a:prstDash val="solid"/>
              <a:round/>
            </a:ln>
          </p:spPr>
        </p:sp>
        <p:sp>
          <p:nvSpPr>
            <p:cNvPr name="TextBox 7" id="7"/>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3136432" y="1916906"/>
            <a:ext cx="2216342" cy="2854707"/>
            <a:chOff x="0" y="0"/>
            <a:chExt cx="583728" cy="751857"/>
          </a:xfrm>
        </p:grpSpPr>
        <p:sp>
          <p:nvSpPr>
            <p:cNvPr name="Freeform 9" id="9"/>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gradFill rotWithShape="true">
              <a:gsLst>
                <a:gs pos="0">
                  <a:srgbClr val="000000">
                    <a:alpha val="100000"/>
                  </a:srgbClr>
                </a:gs>
                <a:gs pos="100000">
                  <a:srgbClr val="737373">
                    <a:alpha val="100000"/>
                  </a:srgbClr>
                </a:gs>
              </a:gsLst>
              <a:lin ang="0"/>
            </a:gradFill>
            <a:ln w="19050" cap="rnd">
              <a:solidFill>
                <a:srgbClr val="000000"/>
              </a:solidFill>
              <a:prstDash val="solid"/>
              <a:round/>
            </a:ln>
          </p:spPr>
        </p:sp>
        <p:sp>
          <p:nvSpPr>
            <p:cNvPr name="TextBox 10" id="10"/>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5622733" y="1916906"/>
            <a:ext cx="2216342" cy="2854707"/>
            <a:chOff x="0" y="0"/>
            <a:chExt cx="583728" cy="751857"/>
          </a:xfrm>
        </p:grpSpPr>
        <p:sp>
          <p:nvSpPr>
            <p:cNvPr name="Freeform 12" id="12"/>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gradFill rotWithShape="true">
              <a:gsLst>
                <a:gs pos="0">
                  <a:srgbClr val="000000">
                    <a:alpha val="100000"/>
                  </a:srgbClr>
                </a:gs>
                <a:gs pos="100000">
                  <a:srgbClr val="737373">
                    <a:alpha val="100000"/>
                  </a:srgbClr>
                </a:gs>
              </a:gsLst>
              <a:lin ang="0"/>
            </a:gradFill>
            <a:ln w="19050" cap="rnd">
              <a:solidFill>
                <a:srgbClr val="000000"/>
              </a:solidFill>
              <a:prstDash val="solid"/>
              <a:round/>
            </a:ln>
          </p:spPr>
        </p:sp>
        <p:sp>
          <p:nvSpPr>
            <p:cNvPr name="TextBox 13" id="13"/>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5867510" y="6391848"/>
            <a:ext cx="5233859" cy="3064257"/>
            <a:chOff x="0" y="0"/>
            <a:chExt cx="1378465" cy="807047"/>
          </a:xfrm>
        </p:grpSpPr>
        <p:sp>
          <p:nvSpPr>
            <p:cNvPr name="Freeform 15" id="15"/>
            <p:cNvSpPr/>
            <p:nvPr/>
          </p:nvSpPr>
          <p:spPr>
            <a:xfrm flipH="false" flipV="false" rot="0">
              <a:off x="0" y="0"/>
              <a:ext cx="1378465" cy="807047"/>
            </a:xfrm>
            <a:custGeom>
              <a:avLst/>
              <a:gdLst/>
              <a:ahLst/>
              <a:cxnLst/>
              <a:rect r="r" b="b" t="t" l="l"/>
              <a:pathLst>
                <a:path h="807047" w="1378465">
                  <a:moveTo>
                    <a:pt x="107982" y="0"/>
                  </a:moveTo>
                  <a:lnTo>
                    <a:pt x="1270483" y="0"/>
                  </a:lnTo>
                  <a:cubicBezTo>
                    <a:pt x="1330120" y="0"/>
                    <a:pt x="1378465" y="48345"/>
                    <a:pt x="1378465" y="107982"/>
                  </a:cubicBezTo>
                  <a:lnTo>
                    <a:pt x="1378465" y="699066"/>
                  </a:lnTo>
                  <a:cubicBezTo>
                    <a:pt x="1378465" y="727704"/>
                    <a:pt x="1367088" y="755170"/>
                    <a:pt x="1346838" y="775420"/>
                  </a:cubicBezTo>
                  <a:cubicBezTo>
                    <a:pt x="1326587" y="795671"/>
                    <a:pt x="1299122" y="807047"/>
                    <a:pt x="1270483" y="807047"/>
                  </a:cubicBezTo>
                  <a:lnTo>
                    <a:pt x="107982" y="807047"/>
                  </a:lnTo>
                  <a:cubicBezTo>
                    <a:pt x="48345" y="807047"/>
                    <a:pt x="0" y="758702"/>
                    <a:pt x="0" y="699066"/>
                  </a:cubicBezTo>
                  <a:lnTo>
                    <a:pt x="0" y="107982"/>
                  </a:lnTo>
                  <a:cubicBezTo>
                    <a:pt x="0" y="79343"/>
                    <a:pt x="11377" y="51878"/>
                    <a:pt x="31627" y="31627"/>
                  </a:cubicBezTo>
                  <a:cubicBezTo>
                    <a:pt x="51878" y="11377"/>
                    <a:pt x="79343" y="0"/>
                    <a:pt x="107982" y="0"/>
                  </a:cubicBezTo>
                  <a:close/>
                </a:path>
              </a:pathLst>
            </a:custGeom>
            <a:solidFill>
              <a:srgbClr val="A69B8A"/>
            </a:solidFill>
            <a:ln w="19050" cap="rnd">
              <a:solidFill>
                <a:srgbClr val="000000"/>
              </a:solidFill>
              <a:prstDash val="solid"/>
              <a:round/>
            </a:ln>
          </p:spPr>
        </p:sp>
        <p:sp>
          <p:nvSpPr>
            <p:cNvPr name="TextBox 16" id="16"/>
            <p:cNvSpPr txBox="true"/>
            <p:nvPr/>
          </p:nvSpPr>
          <p:spPr>
            <a:xfrm>
              <a:off x="0" y="-38100"/>
              <a:ext cx="1378465" cy="84514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12059964" y="1653768"/>
            <a:ext cx="5199336" cy="3194549"/>
            <a:chOff x="0" y="0"/>
            <a:chExt cx="1369372" cy="841363"/>
          </a:xfrm>
        </p:grpSpPr>
        <p:sp>
          <p:nvSpPr>
            <p:cNvPr name="Freeform 18" id="18"/>
            <p:cNvSpPr/>
            <p:nvPr/>
          </p:nvSpPr>
          <p:spPr>
            <a:xfrm flipH="false" flipV="false" rot="0">
              <a:off x="0" y="0"/>
              <a:ext cx="1369372" cy="841363"/>
            </a:xfrm>
            <a:custGeom>
              <a:avLst/>
              <a:gdLst/>
              <a:ahLst/>
              <a:cxnLst/>
              <a:rect r="r" b="b" t="t" l="l"/>
              <a:pathLst>
                <a:path h="841363" w="1369372">
                  <a:moveTo>
                    <a:pt x="108699" y="0"/>
                  </a:moveTo>
                  <a:lnTo>
                    <a:pt x="1260674" y="0"/>
                  </a:lnTo>
                  <a:cubicBezTo>
                    <a:pt x="1289502" y="0"/>
                    <a:pt x="1317150" y="11452"/>
                    <a:pt x="1337535" y="31837"/>
                  </a:cubicBezTo>
                  <a:cubicBezTo>
                    <a:pt x="1357920" y="52222"/>
                    <a:pt x="1369372" y="79870"/>
                    <a:pt x="1369372" y="108699"/>
                  </a:cubicBezTo>
                  <a:lnTo>
                    <a:pt x="1369372" y="732664"/>
                  </a:lnTo>
                  <a:cubicBezTo>
                    <a:pt x="1369372" y="761493"/>
                    <a:pt x="1357920" y="789141"/>
                    <a:pt x="1337535" y="809526"/>
                  </a:cubicBezTo>
                  <a:cubicBezTo>
                    <a:pt x="1317150" y="829911"/>
                    <a:pt x="1289502" y="841363"/>
                    <a:pt x="1260674" y="841363"/>
                  </a:cubicBezTo>
                  <a:lnTo>
                    <a:pt x="108699" y="841363"/>
                  </a:lnTo>
                  <a:cubicBezTo>
                    <a:pt x="79870" y="841363"/>
                    <a:pt x="52222" y="829911"/>
                    <a:pt x="31837" y="809526"/>
                  </a:cubicBezTo>
                  <a:cubicBezTo>
                    <a:pt x="11452" y="789141"/>
                    <a:pt x="0" y="761493"/>
                    <a:pt x="0" y="732664"/>
                  </a:cubicBezTo>
                  <a:lnTo>
                    <a:pt x="0" y="108699"/>
                  </a:lnTo>
                  <a:cubicBezTo>
                    <a:pt x="0" y="79870"/>
                    <a:pt x="11452" y="52222"/>
                    <a:pt x="31837" y="31837"/>
                  </a:cubicBezTo>
                  <a:cubicBezTo>
                    <a:pt x="52222" y="11452"/>
                    <a:pt x="79870" y="0"/>
                    <a:pt x="108699" y="0"/>
                  </a:cubicBezTo>
                  <a:close/>
                </a:path>
              </a:pathLst>
            </a:custGeom>
            <a:solidFill>
              <a:srgbClr val="A69B8A"/>
            </a:solidFill>
            <a:ln w="19050" cap="rnd">
              <a:solidFill>
                <a:srgbClr val="000000"/>
              </a:solidFill>
              <a:prstDash val="solid"/>
              <a:round/>
            </a:ln>
          </p:spPr>
        </p:sp>
        <p:sp>
          <p:nvSpPr>
            <p:cNvPr name="TextBox 19" id="19"/>
            <p:cNvSpPr txBox="true"/>
            <p:nvPr/>
          </p:nvSpPr>
          <p:spPr>
            <a:xfrm>
              <a:off x="0" y="-38100"/>
              <a:ext cx="1369372" cy="87946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0">
            <a:off x="14821020" y="1861442"/>
            <a:ext cx="2216342" cy="2854707"/>
            <a:chOff x="0" y="0"/>
            <a:chExt cx="583728" cy="751857"/>
          </a:xfrm>
        </p:grpSpPr>
        <p:sp>
          <p:nvSpPr>
            <p:cNvPr name="Freeform 21" id="21"/>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solidFill>
              <a:srgbClr val="737373"/>
            </a:solidFill>
            <a:ln w="19050" cap="rnd">
              <a:solidFill>
                <a:srgbClr val="000000"/>
              </a:solidFill>
              <a:prstDash val="solid"/>
              <a:round/>
            </a:ln>
          </p:spPr>
        </p:sp>
        <p:sp>
          <p:nvSpPr>
            <p:cNvPr name="TextBox 22" id="22"/>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3" id="23"/>
          <p:cNvGrpSpPr/>
          <p:nvPr/>
        </p:nvGrpSpPr>
        <p:grpSpPr>
          <a:xfrm rot="0">
            <a:off x="6052601" y="6496623"/>
            <a:ext cx="2216342" cy="2854707"/>
            <a:chOff x="0" y="0"/>
            <a:chExt cx="583728" cy="751857"/>
          </a:xfrm>
        </p:grpSpPr>
        <p:sp>
          <p:nvSpPr>
            <p:cNvPr name="Freeform 24" id="24"/>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solidFill>
              <a:srgbClr val="A6A6A6"/>
            </a:solidFill>
            <a:ln w="19050" cap="rnd">
              <a:solidFill>
                <a:srgbClr val="000000"/>
              </a:solidFill>
              <a:prstDash val="solid"/>
              <a:round/>
            </a:ln>
          </p:spPr>
        </p:sp>
        <p:sp>
          <p:nvSpPr>
            <p:cNvPr name="TextBox 25" id="25"/>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6" id="26"/>
          <p:cNvGrpSpPr/>
          <p:nvPr/>
        </p:nvGrpSpPr>
        <p:grpSpPr>
          <a:xfrm rot="0">
            <a:off x="8678518" y="1783827"/>
            <a:ext cx="2834915" cy="3270054"/>
            <a:chOff x="0" y="0"/>
            <a:chExt cx="746644" cy="861249"/>
          </a:xfrm>
        </p:grpSpPr>
        <p:sp>
          <p:nvSpPr>
            <p:cNvPr name="Freeform 27" id="27"/>
            <p:cNvSpPr/>
            <p:nvPr/>
          </p:nvSpPr>
          <p:spPr>
            <a:xfrm flipH="false" flipV="false" rot="0">
              <a:off x="0" y="0"/>
              <a:ext cx="746644" cy="861249"/>
            </a:xfrm>
            <a:custGeom>
              <a:avLst/>
              <a:gdLst/>
              <a:ahLst/>
              <a:cxnLst/>
              <a:rect r="r" b="b" t="t" l="l"/>
              <a:pathLst>
                <a:path h="861249" w="746644">
                  <a:moveTo>
                    <a:pt x="199357" y="0"/>
                  </a:moveTo>
                  <a:lnTo>
                    <a:pt x="547287" y="0"/>
                  </a:lnTo>
                  <a:cubicBezTo>
                    <a:pt x="657389" y="0"/>
                    <a:pt x="746644" y="89255"/>
                    <a:pt x="746644" y="199357"/>
                  </a:cubicBezTo>
                  <a:lnTo>
                    <a:pt x="746644" y="661892"/>
                  </a:lnTo>
                  <a:cubicBezTo>
                    <a:pt x="746644" y="714764"/>
                    <a:pt x="725641" y="765472"/>
                    <a:pt x="688254" y="802858"/>
                  </a:cubicBezTo>
                  <a:cubicBezTo>
                    <a:pt x="650867" y="840245"/>
                    <a:pt x="600160" y="861249"/>
                    <a:pt x="547287" y="861249"/>
                  </a:cubicBezTo>
                  <a:lnTo>
                    <a:pt x="199357" y="861249"/>
                  </a:lnTo>
                  <a:cubicBezTo>
                    <a:pt x="146484" y="861249"/>
                    <a:pt x="95777" y="840245"/>
                    <a:pt x="58390" y="802858"/>
                  </a:cubicBezTo>
                  <a:cubicBezTo>
                    <a:pt x="21004" y="765472"/>
                    <a:pt x="0" y="714764"/>
                    <a:pt x="0" y="661892"/>
                  </a:cubicBezTo>
                  <a:lnTo>
                    <a:pt x="0" y="199357"/>
                  </a:lnTo>
                  <a:cubicBezTo>
                    <a:pt x="0" y="146484"/>
                    <a:pt x="21004" y="95777"/>
                    <a:pt x="58390" y="58390"/>
                  </a:cubicBezTo>
                  <a:cubicBezTo>
                    <a:pt x="95777" y="21004"/>
                    <a:pt x="146484" y="0"/>
                    <a:pt x="199357" y="0"/>
                  </a:cubicBezTo>
                  <a:close/>
                </a:path>
              </a:pathLst>
            </a:custGeom>
            <a:solidFill>
              <a:srgbClr val="A69B8A"/>
            </a:solidFill>
            <a:ln w="19050" cap="rnd">
              <a:solidFill>
                <a:srgbClr val="000000"/>
              </a:solidFill>
              <a:prstDash val="solid"/>
              <a:round/>
            </a:ln>
          </p:spPr>
        </p:sp>
        <p:sp>
          <p:nvSpPr>
            <p:cNvPr name="TextBox 28" id="28"/>
            <p:cNvSpPr txBox="true"/>
            <p:nvPr/>
          </p:nvSpPr>
          <p:spPr>
            <a:xfrm>
              <a:off x="0" y="-38100"/>
              <a:ext cx="746644" cy="89934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8992843" y="1993610"/>
            <a:ext cx="2216342" cy="2854707"/>
            <a:chOff x="0" y="0"/>
            <a:chExt cx="583728" cy="751857"/>
          </a:xfrm>
        </p:grpSpPr>
        <p:sp>
          <p:nvSpPr>
            <p:cNvPr name="Freeform 30" id="30"/>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solidFill>
              <a:srgbClr val="545454"/>
            </a:solidFill>
            <a:ln w="19050" cap="rnd">
              <a:solidFill>
                <a:srgbClr val="000000"/>
              </a:solidFill>
              <a:prstDash val="solid"/>
              <a:round/>
            </a:ln>
          </p:spPr>
        </p:sp>
        <p:sp>
          <p:nvSpPr>
            <p:cNvPr name="TextBox 31" id="31"/>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2" id="32"/>
          <p:cNvGrpSpPr/>
          <p:nvPr/>
        </p:nvGrpSpPr>
        <p:grpSpPr>
          <a:xfrm rot="0">
            <a:off x="12385603" y="1845548"/>
            <a:ext cx="2216342" cy="2854707"/>
            <a:chOff x="0" y="0"/>
            <a:chExt cx="583728" cy="751857"/>
          </a:xfrm>
        </p:grpSpPr>
        <p:sp>
          <p:nvSpPr>
            <p:cNvPr name="Freeform 33" id="33"/>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solidFill>
              <a:srgbClr val="737373"/>
            </a:solidFill>
            <a:ln w="19050" cap="rnd">
              <a:solidFill>
                <a:srgbClr val="000000"/>
              </a:solidFill>
              <a:prstDash val="solid"/>
              <a:round/>
            </a:ln>
          </p:spPr>
        </p:sp>
        <p:sp>
          <p:nvSpPr>
            <p:cNvPr name="TextBox 34" id="34"/>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8561176" y="6496623"/>
            <a:ext cx="2216342" cy="2854707"/>
            <a:chOff x="0" y="0"/>
            <a:chExt cx="583728" cy="751857"/>
          </a:xfrm>
        </p:grpSpPr>
        <p:sp>
          <p:nvSpPr>
            <p:cNvPr name="Freeform 36" id="36"/>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gradFill rotWithShape="true">
              <a:gsLst>
                <a:gs pos="0">
                  <a:srgbClr val="000000">
                    <a:alpha val="100000"/>
                  </a:srgbClr>
                </a:gs>
                <a:gs pos="100000">
                  <a:srgbClr val="737373">
                    <a:alpha val="100000"/>
                  </a:srgbClr>
                </a:gs>
              </a:gsLst>
              <a:lin ang="0"/>
            </a:gradFill>
            <a:ln w="19050" cap="rnd">
              <a:solidFill>
                <a:srgbClr val="000000"/>
              </a:solidFill>
              <a:prstDash val="solid"/>
              <a:round/>
            </a:ln>
          </p:spPr>
        </p:sp>
        <p:sp>
          <p:nvSpPr>
            <p:cNvPr name="TextBox 37" id="37"/>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8" id="38"/>
          <p:cNvGrpSpPr/>
          <p:nvPr/>
        </p:nvGrpSpPr>
        <p:grpSpPr>
          <a:xfrm rot="0">
            <a:off x="11722983" y="6288950"/>
            <a:ext cx="5106646" cy="3270054"/>
            <a:chOff x="0" y="0"/>
            <a:chExt cx="1344960" cy="861249"/>
          </a:xfrm>
        </p:grpSpPr>
        <p:sp>
          <p:nvSpPr>
            <p:cNvPr name="Freeform 39" id="39"/>
            <p:cNvSpPr/>
            <p:nvPr/>
          </p:nvSpPr>
          <p:spPr>
            <a:xfrm flipH="false" flipV="false" rot="0">
              <a:off x="0" y="0"/>
              <a:ext cx="1344960" cy="861249"/>
            </a:xfrm>
            <a:custGeom>
              <a:avLst/>
              <a:gdLst/>
              <a:ahLst/>
              <a:cxnLst/>
              <a:rect r="r" b="b" t="t" l="l"/>
              <a:pathLst>
                <a:path h="861249" w="1344960">
                  <a:moveTo>
                    <a:pt x="110672" y="0"/>
                  </a:moveTo>
                  <a:lnTo>
                    <a:pt x="1234289" y="0"/>
                  </a:lnTo>
                  <a:cubicBezTo>
                    <a:pt x="1295411" y="0"/>
                    <a:pt x="1344960" y="49549"/>
                    <a:pt x="1344960" y="110672"/>
                  </a:cubicBezTo>
                  <a:lnTo>
                    <a:pt x="1344960" y="750577"/>
                  </a:lnTo>
                  <a:cubicBezTo>
                    <a:pt x="1344960" y="811699"/>
                    <a:pt x="1295411" y="861249"/>
                    <a:pt x="1234289" y="861249"/>
                  </a:cubicBezTo>
                  <a:lnTo>
                    <a:pt x="110672" y="861249"/>
                  </a:lnTo>
                  <a:cubicBezTo>
                    <a:pt x="49549" y="861249"/>
                    <a:pt x="0" y="811699"/>
                    <a:pt x="0" y="750577"/>
                  </a:cubicBezTo>
                  <a:lnTo>
                    <a:pt x="0" y="110672"/>
                  </a:lnTo>
                  <a:cubicBezTo>
                    <a:pt x="0" y="49549"/>
                    <a:pt x="49549" y="0"/>
                    <a:pt x="110672" y="0"/>
                  </a:cubicBezTo>
                  <a:close/>
                </a:path>
              </a:pathLst>
            </a:custGeom>
            <a:solidFill>
              <a:srgbClr val="A69B8A"/>
            </a:solidFill>
            <a:ln w="19050" cap="rnd">
              <a:solidFill>
                <a:srgbClr val="000000"/>
              </a:solidFill>
              <a:prstDash val="solid"/>
              <a:round/>
            </a:ln>
          </p:spPr>
        </p:sp>
        <p:sp>
          <p:nvSpPr>
            <p:cNvPr name="TextBox 40" id="40"/>
            <p:cNvSpPr txBox="true"/>
            <p:nvPr/>
          </p:nvSpPr>
          <p:spPr>
            <a:xfrm>
              <a:off x="0" y="-38100"/>
              <a:ext cx="1344960" cy="89934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1" id="41"/>
          <p:cNvGrpSpPr/>
          <p:nvPr/>
        </p:nvGrpSpPr>
        <p:grpSpPr>
          <a:xfrm rot="0">
            <a:off x="12059964" y="6496623"/>
            <a:ext cx="2216342" cy="2854707"/>
            <a:chOff x="0" y="0"/>
            <a:chExt cx="583728" cy="751857"/>
          </a:xfrm>
        </p:grpSpPr>
        <p:sp>
          <p:nvSpPr>
            <p:cNvPr name="Freeform 42" id="42"/>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gradFill rotWithShape="true">
              <a:gsLst>
                <a:gs pos="0">
                  <a:srgbClr val="000000">
                    <a:alpha val="100000"/>
                  </a:srgbClr>
                </a:gs>
                <a:gs pos="100000">
                  <a:srgbClr val="737373">
                    <a:alpha val="100000"/>
                  </a:srgbClr>
                </a:gs>
              </a:gsLst>
              <a:lin ang="0"/>
            </a:gradFill>
            <a:ln w="19050" cap="rnd">
              <a:solidFill>
                <a:srgbClr val="000000"/>
              </a:solidFill>
              <a:prstDash val="solid"/>
              <a:round/>
            </a:ln>
          </p:spPr>
        </p:sp>
        <p:sp>
          <p:nvSpPr>
            <p:cNvPr name="TextBox 43" id="43"/>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4" id="44"/>
          <p:cNvGrpSpPr/>
          <p:nvPr/>
        </p:nvGrpSpPr>
        <p:grpSpPr>
          <a:xfrm rot="0">
            <a:off x="14457281" y="6496623"/>
            <a:ext cx="2216342" cy="2854707"/>
            <a:chOff x="0" y="0"/>
            <a:chExt cx="583728" cy="751857"/>
          </a:xfrm>
        </p:grpSpPr>
        <p:sp>
          <p:nvSpPr>
            <p:cNvPr name="Freeform 45" id="45"/>
            <p:cNvSpPr/>
            <p:nvPr/>
          </p:nvSpPr>
          <p:spPr>
            <a:xfrm flipH="false" flipV="false" rot="0">
              <a:off x="0" y="0"/>
              <a:ext cx="583728" cy="751857"/>
            </a:xfrm>
            <a:custGeom>
              <a:avLst/>
              <a:gdLst/>
              <a:ahLst/>
              <a:cxnLst/>
              <a:rect r="r" b="b" t="t" l="l"/>
              <a:pathLst>
                <a:path h="751857" w="583728">
                  <a:moveTo>
                    <a:pt x="254997" y="0"/>
                  </a:moveTo>
                  <a:lnTo>
                    <a:pt x="328731" y="0"/>
                  </a:lnTo>
                  <a:cubicBezTo>
                    <a:pt x="469562" y="0"/>
                    <a:pt x="583728" y="114166"/>
                    <a:pt x="583728" y="254997"/>
                  </a:cubicBezTo>
                  <a:lnTo>
                    <a:pt x="583728" y="496860"/>
                  </a:lnTo>
                  <a:cubicBezTo>
                    <a:pt x="583728" y="637691"/>
                    <a:pt x="469562" y="751857"/>
                    <a:pt x="328731" y="751857"/>
                  </a:cubicBezTo>
                  <a:lnTo>
                    <a:pt x="254997" y="751857"/>
                  </a:lnTo>
                  <a:cubicBezTo>
                    <a:pt x="187367" y="751857"/>
                    <a:pt x="122508" y="724991"/>
                    <a:pt x="74687" y="677170"/>
                  </a:cubicBezTo>
                  <a:cubicBezTo>
                    <a:pt x="26866" y="629349"/>
                    <a:pt x="0" y="564490"/>
                    <a:pt x="0" y="496860"/>
                  </a:cubicBezTo>
                  <a:lnTo>
                    <a:pt x="0" y="254997"/>
                  </a:lnTo>
                  <a:cubicBezTo>
                    <a:pt x="0" y="114166"/>
                    <a:pt x="114166" y="0"/>
                    <a:pt x="254997" y="0"/>
                  </a:cubicBezTo>
                  <a:close/>
                </a:path>
              </a:pathLst>
            </a:custGeom>
            <a:solidFill>
              <a:srgbClr val="000000"/>
            </a:solidFill>
            <a:ln w="19050" cap="rnd">
              <a:solidFill>
                <a:srgbClr val="000000"/>
              </a:solidFill>
              <a:prstDash val="solid"/>
              <a:round/>
            </a:ln>
          </p:spPr>
        </p:sp>
        <p:sp>
          <p:nvSpPr>
            <p:cNvPr name="TextBox 46" id="46"/>
            <p:cNvSpPr txBox="true"/>
            <p:nvPr/>
          </p:nvSpPr>
          <p:spPr>
            <a:xfrm>
              <a:off x="0" y="-38100"/>
              <a:ext cx="583728" cy="7899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7" id="47"/>
          <p:cNvGrpSpPr/>
          <p:nvPr/>
        </p:nvGrpSpPr>
        <p:grpSpPr>
          <a:xfrm rot="0">
            <a:off x="11101368" y="7601842"/>
            <a:ext cx="644271" cy="644271"/>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49" id="49"/>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8058150" y="3010263"/>
            <a:ext cx="667993" cy="667993"/>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52" id="52"/>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13433" y="3116620"/>
            <a:ext cx="608688" cy="608688"/>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sp>
        <p:sp>
          <p:nvSpPr>
            <p:cNvPr name="TextBox 55" id="55"/>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56" id="56"/>
          <p:cNvGrpSpPr/>
          <p:nvPr/>
        </p:nvGrpSpPr>
        <p:grpSpPr>
          <a:xfrm rot="8030830">
            <a:off x="10274853" y="5271309"/>
            <a:ext cx="2504182" cy="656027"/>
            <a:chOff x="0" y="0"/>
            <a:chExt cx="2511918" cy="658054"/>
          </a:xfrm>
        </p:grpSpPr>
        <p:sp>
          <p:nvSpPr>
            <p:cNvPr name="Freeform 57" id="57"/>
            <p:cNvSpPr/>
            <p:nvPr/>
          </p:nvSpPr>
          <p:spPr>
            <a:xfrm flipH="false" flipV="false" rot="0">
              <a:off x="0" y="0"/>
              <a:ext cx="2511918" cy="658054"/>
            </a:xfrm>
            <a:custGeom>
              <a:avLst/>
              <a:gdLst/>
              <a:ahLst/>
              <a:cxnLst/>
              <a:rect r="r" b="b" t="t" l="l"/>
              <a:pathLst>
                <a:path h="658054" w="2511918">
                  <a:moveTo>
                    <a:pt x="2511918" y="329027"/>
                  </a:moveTo>
                  <a:lnTo>
                    <a:pt x="2105518" y="0"/>
                  </a:lnTo>
                  <a:lnTo>
                    <a:pt x="2105518" y="203200"/>
                  </a:lnTo>
                  <a:lnTo>
                    <a:pt x="0" y="203200"/>
                  </a:lnTo>
                  <a:lnTo>
                    <a:pt x="0" y="454854"/>
                  </a:lnTo>
                  <a:lnTo>
                    <a:pt x="2105518" y="454854"/>
                  </a:lnTo>
                  <a:lnTo>
                    <a:pt x="2105518" y="658054"/>
                  </a:lnTo>
                  <a:lnTo>
                    <a:pt x="2511918" y="329027"/>
                  </a:lnTo>
                  <a:close/>
                </a:path>
              </a:pathLst>
            </a:custGeom>
            <a:solidFill>
              <a:srgbClr val="000000"/>
            </a:solidFill>
          </p:spPr>
        </p:sp>
        <p:sp>
          <p:nvSpPr>
            <p:cNvPr name="TextBox 58" id="58"/>
            <p:cNvSpPr txBox="true"/>
            <p:nvPr/>
          </p:nvSpPr>
          <p:spPr>
            <a:xfrm>
              <a:off x="0" y="165100"/>
              <a:ext cx="2410318" cy="289754"/>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3354330" y="2622393"/>
            <a:ext cx="1998444" cy="12573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Cle</a:t>
            </a:r>
            <a:r>
              <a:rPr lang="en-US" b="true" sz="2799" spc="-72">
                <a:solidFill>
                  <a:srgbClr val="FFFFFF"/>
                </a:solidFill>
                <a:latin typeface="Canva Sans Bold"/>
                <a:ea typeface="Canva Sans Bold"/>
                <a:cs typeface="Canva Sans Bold"/>
                <a:sym typeface="Canva Sans Bold"/>
              </a:rPr>
              <a:t>an data (interpolation, scaling) </a:t>
            </a:r>
          </a:p>
        </p:txBody>
      </p:sp>
      <p:sp>
        <p:nvSpPr>
          <p:cNvPr name="TextBox 60" id="60"/>
          <p:cNvSpPr txBox="true"/>
          <p:nvPr/>
        </p:nvSpPr>
        <p:spPr>
          <a:xfrm rot="0">
            <a:off x="273192" y="143417"/>
            <a:ext cx="10149822"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METHODO</a:t>
            </a:r>
            <a:r>
              <a:rPr lang="en-US" b="true" sz="9999" spc="-259">
                <a:solidFill>
                  <a:srgbClr val="161412"/>
                </a:solidFill>
                <a:latin typeface="TT Interphases Bold"/>
                <a:ea typeface="TT Interphases Bold"/>
                <a:cs typeface="TT Interphases Bold"/>
                <a:sym typeface="TT Interphases Bold"/>
              </a:rPr>
              <a:t>LOGY</a:t>
            </a:r>
          </a:p>
        </p:txBody>
      </p:sp>
      <p:sp>
        <p:nvSpPr>
          <p:cNvPr name="TextBox 61" id="61"/>
          <p:cNvSpPr txBox="true"/>
          <p:nvPr/>
        </p:nvSpPr>
        <p:spPr>
          <a:xfrm rot="0">
            <a:off x="1143981" y="2715609"/>
            <a:ext cx="1344751" cy="12573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L</a:t>
            </a:r>
            <a:r>
              <a:rPr lang="en-US" b="true" sz="2799" spc="-72">
                <a:solidFill>
                  <a:srgbClr val="FFFFFF"/>
                </a:solidFill>
                <a:latin typeface="Canva Sans Bold"/>
                <a:ea typeface="Canva Sans Bold"/>
                <a:cs typeface="Canva Sans Bold"/>
                <a:sym typeface="Canva Sans Bold"/>
              </a:rPr>
              <a:t>oad NAB dataset </a:t>
            </a:r>
          </a:p>
        </p:txBody>
      </p:sp>
      <p:sp>
        <p:nvSpPr>
          <p:cNvPr name="TextBox 62" id="62"/>
          <p:cNvSpPr txBox="true"/>
          <p:nvPr/>
        </p:nvSpPr>
        <p:spPr>
          <a:xfrm rot="0">
            <a:off x="5948388" y="2622393"/>
            <a:ext cx="1565032" cy="12573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Cre</a:t>
            </a:r>
            <a:r>
              <a:rPr lang="en-US" b="true" sz="2799" spc="-72">
                <a:solidFill>
                  <a:srgbClr val="FFFFFF"/>
                </a:solidFill>
                <a:latin typeface="Canva Sans Bold"/>
                <a:ea typeface="Canva Sans Bold"/>
                <a:cs typeface="Canva Sans Bold"/>
                <a:sym typeface="Canva Sans Bold"/>
              </a:rPr>
              <a:t>ate sliding windows </a:t>
            </a:r>
          </a:p>
        </p:txBody>
      </p:sp>
      <p:sp>
        <p:nvSpPr>
          <p:cNvPr name="TextBox 63" id="63"/>
          <p:cNvSpPr txBox="true"/>
          <p:nvPr/>
        </p:nvSpPr>
        <p:spPr>
          <a:xfrm rot="0">
            <a:off x="9269068" y="2582764"/>
            <a:ext cx="1869619" cy="16764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 L</a:t>
            </a:r>
            <a:r>
              <a:rPr lang="en-US" b="true" sz="2799" spc="-72">
                <a:solidFill>
                  <a:srgbClr val="FFFFFF"/>
                </a:solidFill>
                <a:latin typeface="Canva Sans Bold"/>
                <a:ea typeface="Canva Sans Bold"/>
                <a:cs typeface="Canva Sans Bold"/>
                <a:sym typeface="Canva Sans Bold"/>
              </a:rPr>
              <a:t>abel anomalies using JSON</a:t>
            </a:r>
          </a:p>
        </p:txBody>
      </p:sp>
      <p:sp>
        <p:nvSpPr>
          <p:cNvPr name="TextBox 64" id="64"/>
          <p:cNvSpPr txBox="true"/>
          <p:nvPr/>
        </p:nvSpPr>
        <p:spPr>
          <a:xfrm rot="0">
            <a:off x="12810385" y="2506059"/>
            <a:ext cx="1366779" cy="16764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Tr</a:t>
            </a:r>
            <a:r>
              <a:rPr lang="en-US" b="true" sz="2799" spc="-72">
                <a:solidFill>
                  <a:srgbClr val="FFFFFF"/>
                </a:solidFill>
                <a:latin typeface="Canva Sans Bold"/>
                <a:ea typeface="Canva Sans Bold"/>
                <a:cs typeface="Canva Sans Bold"/>
                <a:sym typeface="Canva Sans Bold"/>
              </a:rPr>
              <a:t>ain Masked Autoencoder </a:t>
            </a:r>
          </a:p>
        </p:txBody>
      </p:sp>
      <p:sp>
        <p:nvSpPr>
          <p:cNvPr name="TextBox 65" id="65"/>
          <p:cNvSpPr txBox="true"/>
          <p:nvPr/>
        </p:nvSpPr>
        <p:spPr>
          <a:xfrm rot="0">
            <a:off x="15259170" y="2450595"/>
            <a:ext cx="1565032" cy="16764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Tr</a:t>
            </a:r>
            <a:r>
              <a:rPr lang="en-US" b="true" sz="2799" spc="-72">
                <a:solidFill>
                  <a:srgbClr val="FFFFFF"/>
                </a:solidFill>
                <a:latin typeface="Canva Sans Bold"/>
                <a:ea typeface="Canva Sans Bold"/>
                <a:cs typeface="Canva Sans Bold"/>
                <a:sym typeface="Canva Sans Bold"/>
              </a:rPr>
              <a:t>ain Siamese Triplet Network </a:t>
            </a:r>
          </a:p>
        </p:txBody>
      </p:sp>
      <p:sp>
        <p:nvSpPr>
          <p:cNvPr name="TextBox 66" id="66"/>
          <p:cNvSpPr txBox="true"/>
          <p:nvPr/>
        </p:nvSpPr>
        <p:spPr>
          <a:xfrm rot="0">
            <a:off x="6177894" y="7407912"/>
            <a:ext cx="2091049" cy="8382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Extr</a:t>
            </a:r>
            <a:r>
              <a:rPr lang="en-US" b="true" sz="2799" spc="-72">
                <a:solidFill>
                  <a:srgbClr val="FFFFFF"/>
                </a:solidFill>
                <a:latin typeface="Canva Sans Bold"/>
                <a:ea typeface="Canva Sans Bold"/>
                <a:cs typeface="Canva Sans Bold"/>
                <a:sym typeface="Canva Sans Bold"/>
              </a:rPr>
              <a:t>act embeddings</a:t>
            </a:r>
          </a:p>
        </p:txBody>
      </p:sp>
      <p:sp>
        <p:nvSpPr>
          <p:cNvPr name="TextBox 67" id="67"/>
          <p:cNvSpPr txBox="true"/>
          <p:nvPr/>
        </p:nvSpPr>
        <p:spPr>
          <a:xfrm rot="0">
            <a:off x="8948852" y="7295327"/>
            <a:ext cx="1565032" cy="12573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Compu</a:t>
            </a:r>
            <a:r>
              <a:rPr lang="en-US" b="true" sz="2799" spc="-72">
                <a:solidFill>
                  <a:srgbClr val="FFFFFF"/>
                </a:solidFill>
                <a:latin typeface="Canva Sans Bold"/>
                <a:ea typeface="Canva Sans Bold"/>
                <a:cs typeface="Canva Sans Bold"/>
                <a:sym typeface="Canva Sans Bold"/>
              </a:rPr>
              <a:t>te anomaly score</a:t>
            </a:r>
          </a:p>
        </p:txBody>
      </p:sp>
      <p:sp>
        <p:nvSpPr>
          <p:cNvPr name="TextBox 68" id="68"/>
          <p:cNvSpPr txBox="true"/>
          <p:nvPr/>
        </p:nvSpPr>
        <p:spPr>
          <a:xfrm rot="0">
            <a:off x="12290615" y="7295327"/>
            <a:ext cx="1854392" cy="8382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 Apply </a:t>
            </a:r>
            <a:r>
              <a:rPr lang="en-US" b="true" sz="2799" spc="-72">
                <a:solidFill>
                  <a:srgbClr val="FFFFFF"/>
                </a:solidFill>
                <a:latin typeface="Canva Sans Bold"/>
                <a:ea typeface="Canva Sans Bold"/>
                <a:cs typeface="Canva Sans Bold"/>
                <a:sym typeface="Canva Sans Bold"/>
              </a:rPr>
              <a:t>threshold </a:t>
            </a:r>
          </a:p>
        </p:txBody>
      </p:sp>
      <p:sp>
        <p:nvSpPr>
          <p:cNvPr name="TextBox 69" id="69"/>
          <p:cNvSpPr txBox="true"/>
          <p:nvPr/>
        </p:nvSpPr>
        <p:spPr>
          <a:xfrm rot="0">
            <a:off x="14601945" y="6876227"/>
            <a:ext cx="2071678" cy="1676400"/>
          </a:xfrm>
          <a:prstGeom prst="rect">
            <a:avLst/>
          </a:prstGeom>
        </p:spPr>
        <p:txBody>
          <a:bodyPr anchor="t" rtlCol="false" tIns="0" lIns="0" bIns="0" rIns="0">
            <a:spAutoFit/>
          </a:bodyPr>
          <a:lstStyle/>
          <a:p>
            <a:pPr algn="l" marL="0" indent="0" lvl="0">
              <a:lnSpc>
                <a:spcPts val="3359"/>
              </a:lnSpc>
            </a:pPr>
            <a:r>
              <a:rPr lang="en-US" b="true" sz="2799" spc="-72">
                <a:solidFill>
                  <a:srgbClr val="FFFFFF"/>
                </a:solidFill>
                <a:latin typeface="Canva Sans Bold"/>
                <a:ea typeface="Canva Sans Bold"/>
                <a:cs typeface="Canva Sans Bold"/>
                <a:sym typeface="Canva Sans Bold"/>
              </a:rPr>
              <a:t>Evalu</a:t>
            </a:r>
            <a:r>
              <a:rPr lang="en-US" b="true" sz="2799" spc="-72">
                <a:solidFill>
                  <a:srgbClr val="FFFFFF"/>
                </a:solidFill>
                <a:latin typeface="Canva Sans Bold"/>
                <a:ea typeface="Canva Sans Bold"/>
                <a:cs typeface="Canva Sans Bold"/>
                <a:sym typeface="Canva Sans Bold"/>
              </a:rPr>
              <a:t>ate results + baseline comparison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2448773" y="1314450"/>
            <a:ext cx="13390455" cy="1228724"/>
          </a:xfrm>
          <a:prstGeom prst="rect">
            <a:avLst/>
          </a:prstGeom>
        </p:spPr>
        <p:txBody>
          <a:bodyPr anchor="t" rtlCol="false" tIns="0" lIns="0" bIns="0" rIns="0">
            <a:spAutoFit/>
          </a:bodyPr>
          <a:lstStyle/>
          <a:p>
            <a:pPr algn="ctr" marL="0" indent="0" lvl="0">
              <a:lnSpc>
                <a:spcPts val="8999"/>
              </a:lnSpc>
            </a:pPr>
            <a:r>
              <a:rPr lang="en-US" b="true" sz="9999" spc="-259">
                <a:solidFill>
                  <a:srgbClr val="161412"/>
                </a:solidFill>
                <a:latin typeface="TT Interphases Bold"/>
                <a:ea typeface="TT Interphases Bold"/>
                <a:cs typeface="TT Interphases Bold"/>
                <a:sym typeface="TT Interphases Bold"/>
              </a:rPr>
              <a:t> </a:t>
            </a:r>
            <a:r>
              <a:rPr lang="en-US" b="true" sz="9999" spc="-259">
                <a:solidFill>
                  <a:srgbClr val="161412"/>
                </a:solidFill>
                <a:latin typeface="TT Interphases Bold"/>
                <a:ea typeface="TT Interphases Bold"/>
                <a:cs typeface="TT Interphases Bold"/>
                <a:sym typeface="TT Interphases Bold"/>
              </a:rPr>
              <a:t>Mode</a:t>
            </a:r>
            <a:r>
              <a:rPr lang="en-US" b="true" sz="9999" spc="-259">
                <a:solidFill>
                  <a:srgbClr val="161412"/>
                </a:solidFill>
                <a:latin typeface="TT Interphases Bold"/>
                <a:ea typeface="TT Interphases Bold"/>
                <a:cs typeface="TT Interphases Bold"/>
                <a:sym typeface="TT Interphases Bold"/>
              </a:rPr>
              <a:t>LS</a:t>
            </a:r>
          </a:p>
        </p:txBody>
      </p:sp>
      <p:sp>
        <p:nvSpPr>
          <p:cNvPr name="TextBox 3" id="3"/>
          <p:cNvSpPr txBox="true"/>
          <p:nvPr/>
        </p:nvSpPr>
        <p:spPr>
          <a:xfrm rot="0">
            <a:off x="1609882" y="8666477"/>
            <a:ext cx="3489039" cy="286959"/>
          </a:xfrm>
          <a:prstGeom prst="rect">
            <a:avLst/>
          </a:prstGeom>
        </p:spPr>
        <p:txBody>
          <a:bodyPr anchor="t" rtlCol="false" tIns="0" lIns="0" bIns="0" rIns="0">
            <a:spAutoFit/>
          </a:bodyPr>
          <a:lstStyle/>
          <a:p>
            <a:pPr algn="ctr" marL="0" indent="0" lvl="0">
              <a:lnSpc>
                <a:spcPts val="2469"/>
              </a:lnSpc>
              <a:spcBef>
                <a:spcPct val="0"/>
              </a:spcBef>
            </a:pPr>
            <a:r>
              <a:rPr lang="en-US" sz="1815" spc="-45" strike="noStrike" u="none">
                <a:solidFill>
                  <a:srgbClr val="FFFFFF"/>
                </a:solidFill>
                <a:latin typeface="Nunito"/>
                <a:ea typeface="Nunito"/>
                <a:cs typeface="Nunito"/>
                <a:sym typeface="Nunito"/>
              </a:rPr>
              <a:t>Actor</a:t>
            </a:r>
          </a:p>
        </p:txBody>
      </p:sp>
      <p:sp>
        <p:nvSpPr>
          <p:cNvPr name="TextBox 4" id="4"/>
          <p:cNvSpPr txBox="true"/>
          <p:nvPr/>
        </p:nvSpPr>
        <p:spPr>
          <a:xfrm rot="0">
            <a:off x="9329347" y="8666477"/>
            <a:ext cx="3489039" cy="286959"/>
          </a:xfrm>
          <a:prstGeom prst="rect">
            <a:avLst/>
          </a:prstGeom>
        </p:spPr>
        <p:txBody>
          <a:bodyPr anchor="t" rtlCol="false" tIns="0" lIns="0" bIns="0" rIns="0">
            <a:spAutoFit/>
          </a:bodyPr>
          <a:lstStyle/>
          <a:p>
            <a:pPr algn="ctr" marL="0" indent="0" lvl="0">
              <a:lnSpc>
                <a:spcPts val="2469"/>
              </a:lnSpc>
              <a:spcBef>
                <a:spcPct val="0"/>
              </a:spcBef>
            </a:pPr>
            <a:r>
              <a:rPr lang="en-US" sz="1815" spc="-45" strike="noStrike" u="none">
                <a:solidFill>
                  <a:srgbClr val="FFFFFF"/>
                </a:solidFill>
                <a:latin typeface="Nunito"/>
                <a:ea typeface="Nunito"/>
                <a:cs typeface="Nunito"/>
                <a:sym typeface="Nunito"/>
              </a:rPr>
              <a:t>Journalist</a:t>
            </a:r>
          </a:p>
        </p:txBody>
      </p:sp>
      <p:sp>
        <p:nvSpPr>
          <p:cNvPr name="TextBox 5" id="5"/>
          <p:cNvSpPr txBox="true"/>
          <p:nvPr/>
        </p:nvSpPr>
        <p:spPr>
          <a:xfrm rot="0">
            <a:off x="3106510" y="2932439"/>
            <a:ext cx="13281364" cy="4663729"/>
          </a:xfrm>
          <a:prstGeom prst="rect">
            <a:avLst/>
          </a:prstGeom>
        </p:spPr>
        <p:txBody>
          <a:bodyPr anchor="t" rtlCol="false" tIns="0" lIns="0" bIns="0" rIns="0">
            <a:spAutoFit/>
          </a:bodyPr>
          <a:lstStyle/>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     </a:t>
            </a:r>
            <a:r>
              <a:rPr lang="en-US" b="true" sz="2820" spc="-70">
                <a:solidFill>
                  <a:srgbClr val="222223"/>
                </a:solidFill>
                <a:latin typeface="Nunito Bold"/>
                <a:ea typeface="Nunito Bold"/>
                <a:cs typeface="Nunito Bold"/>
                <a:sym typeface="Nunito Bold"/>
              </a:rPr>
              <a:t>Model 1: Baseline Hybrid ModelMasked Autoencoder + Siamese Network</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Limited anomaly separation</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    </a:t>
            </a:r>
            <a:r>
              <a:rPr lang="en-US" b="true" sz="2820" spc="-70">
                <a:solidFill>
                  <a:srgbClr val="222223"/>
                </a:solidFill>
                <a:latin typeface="Nunito Bold"/>
                <a:ea typeface="Nunito Bold"/>
                <a:cs typeface="Nunito Bold"/>
                <a:sym typeface="Nunito Bold"/>
              </a:rPr>
              <a:t>Model 2: Improved SamplingBetter pseudo-negative sample generation</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Improved embedding learning</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Model 3: Residual + AugmentationDeeper autoencoder with residual connections</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Data augmentation for better generalization</a:t>
            </a:r>
          </a:p>
          <a:p>
            <a:pPr algn="ctr" marL="1217918" indent="-405973" lvl="2">
              <a:lnSpc>
                <a:spcPts val="3835"/>
              </a:lnSpc>
              <a:buFont typeface="Arial"/>
              <a:buChar char="⚬"/>
            </a:pPr>
            <a:r>
              <a:rPr lang="en-US" b="true" sz="2820" spc="-70">
                <a:solidFill>
                  <a:srgbClr val="222223"/>
                </a:solidFill>
                <a:latin typeface="Nunito Bold"/>
                <a:ea typeface="Nunito Bold"/>
                <a:cs typeface="Nunito Bold"/>
                <a:sym typeface="Nunito Bold"/>
              </a:rPr>
              <a:t>    </a:t>
            </a:r>
            <a:r>
              <a:rPr lang="en-US" b="true" sz="2820" spc="-70">
                <a:solidFill>
                  <a:srgbClr val="222223"/>
                </a:solidFill>
                <a:latin typeface="Nunito Bold"/>
                <a:ea typeface="Nunito Bold"/>
                <a:cs typeface="Nunito Bold"/>
                <a:sym typeface="Nunito Bold"/>
              </a:rPr>
              <a:t>Model 4: Optimized Hybrid ModelLarger window size and refined training</a:t>
            </a:r>
          </a:p>
          <a:p>
            <a:pPr algn="ctr" marL="1304911" indent="-434970" lvl="2">
              <a:lnSpc>
                <a:spcPts val="4109"/>
              </a:lnSpc>
              <a:buFont typeface="Arial"/>
              <a:buChar char="⚬"/>
            </a:pPr>
            <a:r>
              <a:rPr lang="en-US" b="true" sz="3022" spc="-75">
                <a:solidFill>
                  <a:srgbClr val="222223"/>
                </a:solidFill>
                <a:latin typeface="Nunito Bold"/>
                <a:ea typeface="Nunito Bold"/>
                <a:cs typeface="Nunito Bold"/>
                <a:sym typeface="Nunito Bold"/>
              </a:rPr>
              <a:t>Best performance with strong anomaly separation</a:t>
            </a:r>
          </a:p>
          <a:p>
            <a:pPr algn="ctr">
              <a:lnSpc>
                <a:spcPts val="246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sp>
        <p:nvSpPr>
          <p:cNvPr name="Freeform 2" id="2"/>
          <p:cNvSpPr/>
          <p:nvPr/>
        </p:nvSpPr>
        <p:spPr>
          <a:xfrm flipH="false" flipV="false" rot="0">
            <a:off x="0" y="1910629"/>
            <a:ext cx="18288000" cy="5006212"/>
          </a:xfrm>
          <a:custGeom>
            <a:avLst/>
            <a:gdLst/>
            <a:ahLst/>
            <a:cxnLst/>
            <a:rect r="r" b="b" t="t" l="l"/>
            <a:pathLst>
              <a:path h="5006212" w="18288000">
                <a:moveTo>
                  <a:pt x="0" y="0"/>
                </a:moveTo>
                <a:lnTo>
                  <a:pt x="18288000" y="0"/>
                </a:lnTo>
                <a:lnTo>
                  <a:pt x="18288000" y="5006212"/>
                </a:lnTo>
                <a:lnTo>
                  <a:pt x="0" y="5006212"/>
                </a:lnTo>
                <a:lnTo>
                  <a:pt x="0" y="0"/>
                </a:lnTo>
                <a:close/>
              </a:path>
            </a:pathLst>
          </a:custGeom>
          <a:blipFill>
            <a:blip r:embed="rId2"/>
            <a:stretch>
              <a:fillRect l="0" t="0" r="0" b="0"/>
            </a:stretch>
          </a:blipFill>
        </p:spPr>
      </p:sp>
      <p:sp>
        <p:nvSpPr>
          <p:cNvPr name="TextBox 3" id="3"/>
          <p:cNvSpPr txBox="true"/>
          <p:nvPr/>
        </p:nvSpPr>
        <p:spPr>
          <a:xfrm rot="0">
            <a:off x="2723352" y="681905"/>
            <a:ext cx="13948845"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MODEL ARCHITECTURE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6051246" y="146876"/>
            <a:ext cx="9649004"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RESULTS</a:t>
            </a:r>
          </a:p>
        </p:txBody>
      </p:sp>
      <p:sp>
        <p:nvSpPr>
          <p:cNvPr name="TextBox 3" id="3"/>
          <p:cNvSpPr txBox="true"/>
          <p:nvPr/>
        </p:nvSpPr>
        <p:spPr>
          <a:xfrm rot="0">
            <a:off x="1814388" y="1720660"/>
            <a:ext cx="6696429" cy="5830824"/>
          </a:xfrm>
          <a:prstGeom prst="rect">
            <a:avLst/>
          </a:prstGeom>
        </p:spPr>
        <p:txBody>
          <a:bodyPr anchor="t" rtlCol="false" tIns="0" lIns="0" bIns="0" rIns="0">
            <a:spAutoFit/>
          </a:bodyPr>
          <a:lstStyle/>
          <a:p>
            <a:pPr algn="l">
              <a:lnSpc>
                <a:spcPts val="2448"/>
              </a:lnSpc>
            </a:pPr>
          </a:p>
          <a:p>
            <a:pPr algn="l" marL="647694" indent="-323847" lvl="1">
              <a:lnSpc>
                <a:spcPts val="4079"/>
              </a:lnSpc>
              <a:buFont typeface="Arial"/>
              <a:buChar char="•"/>
            </a:pPr>
            <a:r>
              <a:rPr lang="en-US" b="true" sz="2999" spc="-74">
                <a:solidFill>
                  <a:srgbClr val="222223"/>
                </a:solidFill>
                <a:latin typeface="Nunito Bold"/>
                <a:ea typeface="Nunito Bold"/>
                <a:cs typeface="Nunito Bold"/>
                <a:sym typeface="Nunito Bold"/>
              </a:rPr>
              <a:t>Progressive improvement across models</a:t>
            </a:r>
          </a:p>
          <a:p>
            <a:pPr algn="l" marL="647694" indent="-323847" lvl="1">
              <a:lnSpc>
                <a:spcPts val="4079"/>
              </a:lnSpc>
              <a:buFont typeface="Arial"/>
              <a:buChar char="•"/>
            </a:pPr>
            <a:r>
              <a:rPr lang="en-US" b="true" sz="2999" spc="-74">
                <a:solidFill>
                  <a:srgbClr val="222223"/>
                </a:solidFill>
                <a:latin typeface="Nunito Bold"/>
                <a:ea typeface="Nunito Bold"/>
                <a:cs typeface="Nunito Bold"/>
                <a:sym typeface="Nunito Bold"/>
              </a:rPr>
              <a:t>Model 1 → Poor performance (low detection ability)</a:t>
            </a:r>
          </a:p>
          <a:p>
            <a:pPr algn="l" marL="647694" indent="-323847" lvl="1">
              <a:lnSpc>
                <a:spcPts val="4079"/>
              </a:lnSpc>
              <a:buFont typeface="Arial"/>
              <a:buChar char="•"/>
            </a:pPr>
            <a:r>
              <a:rPr lang="en-US" b="true" sz="2999" spc="-74">
                <a:solidFill>
                  <a:srgbClr val="222223"/>
                </a:solidFill>
                <a:latin typeface="Nunito Bold"/>
                <a:ea typeface="Nunito Bold"/>
                <a:cs typeface="Nunito Bold"/>
                <a:sym typeface="Nunito Bold"/>
              </a:rPr>
              <a:t>Model 2 → Moderate improvement with better sampling</a:t>
            </a:r>
          </a:p>
          <a:p>
            <a:pPr algn="l" marL="647694" indent="-323847" lvl="1">
              <a:lnSpc>
                <a:spcPts val="4079"/>
              </a:lnSpc>
              <a:buFont typeface="Arial"/>
              <a:buChar char="•"/>
            </a:pPr>
            <a:r>
              <a:rPr lang="en-US" b="true" sz="2999" spc="-74">
                <a:solidFill>
                  <a:srgbClr val="222223"/>
                </a:solidFill>
                <a:latin typeface="Nunito Bold"/>
                <a:ea typeface="Nunito Bold"/>
                <a:cs typeface="Nunito Bold"/>
                <a:sym typeface="Nunito Bold"/>
              </a:rPr>
              <a:t>Model 3 → Significant improvement (residual + augmentation)</a:t>
            </a:r>
          </a:p>
          <a:p>
            <a:pPr algn="l" marL="647694" indent="-323847" lvl="1">
              <a:lnSpc>
                <a:spcPts val="4079"/>
              </a:lnSpc>
              <a:buFont typeface="Arial"/>
              <a:buChar char="•"/>
            </a:pPr>
            <a:r>
              <a:rPr lang="en-US" b="true" sz="2999" spc="-74">
                <a:solidFill>
                  <a:srgbClr val="222223"/>
                </a:solidFill>
                <a:latin typeface="Nunito Bold"/>
                <a:ea typeface="Nunito Bold"/>
                <a:cs typeface="Nunito Bold"/>
                <a:sym typeface="Nunito Bold"/>
              </a:rPr>
              <a:t>Model 4 → Best performance</a:t>
            </a:r>
          </a:p>
          <a:p>
            <a:pPr algn="l">
              <a:lnSpc>
                <a:spcPts val="2448"/>
              </a:lnSpc>
            </a:pPr>
          </a:p>
          <a:p>
            <a:pPr algn="l">
              <a:lnSpc>
                <a:spcPts val="2448"/>
              </a:lnSpc>
            </a:pPr>
          </a:p>
          <a:p>
            <a:pPr algn="l">
              <a:lnSpc>
                <a:spcPts val="2448"/>
              </a:lnSpc>
            </a:pPr>
          </a:p>
        </p:txBody>
      </p:sp>
      <p:sp>
        <p:nvSpPr>
          <p:cNvPr name="TextBox 4" id="4"/>
          <p:cNvSpPr txBox="true"/>
          <p:nvPr/>
        </p:nvSpPr>
        <p:spPr>
          <a:xfrm rot="0">
            <a:off x="9144000" y="3128272"/>
            <a:ext cx="9144000" cy="4246970"/>
          </a:xfrm>
          <a:prstGeom prst="rect">
            <a:avLst/>
          </a:prstGeom>
        </p:spPr>
        <p:txBody>
          <a:bodyPr anchor="t" rtlCol="false" tIns="0" lIns="0" bIns="0" rIns="0">
            <a:spAutoFit/>
          </a:bodyPr>
          <a:lstStyle/>
          <a:p>
            <a:pPr algn="ctr">
              <a:lnSpc>
                <a:spcPts val="4265"/>
              </a:lnSpc>
            </a:pPr>
            <a:r>
              <a:rPr lang="en-US" b="true" sz="3046" spc="-76">
                <a:solidFill>
                  <a:srgbClr val="000000"/>
                </a:solidFill>
                <a:latin typeface="Canva Sans Bold"/>
                <a:ea typeface="Canva Sans Bold"/>
                <a:cs typeface="Canva Sans Bold"/>
                <a:sym typeface="Canva Sans Bold"/>
              </a:rPr>
              <a:t>Final Mo</a:t>
            </a:r>
            <a:r>
              <a:rPr lang="en-US" b="true" sz="3046" spc="-76">
                <a:solidFill>
                  <a:srgbClr val="000000"/>
                </a:solidFill>
                <a:latin typeface="Canva Sans Bold"/>
                <a:ea typeface="Canva Sans Bold"/>
                <a:cs typeface="Canva Sans Bold"/>
                <a:sym typeface="Canva Sans Bold"/>
              </a:rPr>
              <a:t>del Performance:</a:t>
            </a:r>
          </a:p>
          <a:p>
            <a:pPr algn="ctr" marL="657730" indent="-328865" lvl="1">
              <a:lnSpc>
                <a:spcPts val="4265"/>
              </a:lnSpc>
              <a:buFont typeface="Arial"/>
              <a:buChar char="•"/>
            </a:pPr>
            <a:r>
              <a:rPr lang="en-US" b="true" sz="3046">
                <a:solidFill>
                  <a:srgbClr val="000000"/>
                </a:solidFill>
                <a:latin typeface="Canva Sans Bold"/>
                <a:ea typeface="Canva Sans Bold"/>
                <a:cs typeface="Canva Sans Bold"/>
                <a:sym typeface="Canva Sans Bold"/>
              </a:rPr>
              <a:t>Precision: 0.81</a:t>
            </a:r>
          </a:p>
          <a:p>
            <a:pPr algn="ctr" marL="657730" indent="-328865" lvl="1">
              <a:lnSpc>
                <a:spcPts val="4265"/>
              </a:lnSpc>
              <a:buFont typeface="Arial"/>
              <a:buChar char="•"/>
            </a:pPr>
            <a:r>
              <a:rPr lang="en-US" b="true" sz="3046">
                <a:solidFill>
                  <a:srgbClr val="000000"/>
                </a:solidFill>
                <a:latin typeface="Canva Sans Bold"/>
                <a:ea typeface="Canva Sans Bold"/>
                <a:cs typeface="Canva Sans Bold"/>
                <a:sym typeface="Canva Sans Bold"/>
              </a:rPr>
              <a:t>Recall: 0.95</a:t>
            </a:r>
          </a:p>
          <a:p>
            <a:pPr algn="ctr" marL="657730" indent="-328865" lvl="1">
              <a:lnSpc>
                <a:spcPts val="4265"/>
              </a:lnSpc>
              <a:buFont typeface="Arial"/>
              <a:buChar char="•"/>
            </a:pPr>
            <a:r>
              <a:rPr lang="en-US" b="true" sz="3046">
                <a:solidFill>
                  <a:srgbClr val="000000"/>
                </a:solidFill>
                <a:latin typeface="Canva Sans Bold"/>
                <a:ea typeface="Canva Sans Bold"/>
                <a:cs typeface="Canva Sans Bold"/>
                <a:sym typeface="Canva Sans Bold"/>
              </a:rPr>
              <a:t>F1-score: 0.88</a:t>
            </a:r>
          </a:p>
          <a:p>
            <a:pPr algn="ctr" marL="657730" indent="-328865" lvl="1">
              <a:lnSpc>
                <a:spcPts val="4265"/>
              </a:lnSpc>
              <a:buFont typeface="Arial"/>
              <a:buChar char="•"/>
            </a:pPr>
            <a:r>
              <a:rPr lang="en-US" b="true" sz="3046">
                <a:solidFill>
                  <a:srgbClr val="000000"/>
                </a:solidFill>
                <a:latin typeface="Canva Sans Bold"/>
                <a:ea typeface="Canva Sans Bold"/>
                <a:cs typeface="Canva Sans Bold"/>
                <a:sym typeface="Canva Sans Bold"/>
              </a:rPr>
              <a:t>Strong anomaly separation</a:t>
            </a:r>
          </a:p>
          <a:p>
            <a:pPr algn="ctr" marL="657730" indent="-328865" lvl="1">
              <a:lnSpc>
                <a:spcPts val="4265"/>
              </a:lnSpc>
              <a:buFont typeface="Arial"/>
              <a:buChar char="•"/>
            </a:pPr>
            <a:r>
              <a:rPr lang="en-US" b="true" sz="3046">
                <a:solidFill>
                  <a:srgbClr val="000000"/>
                </a:solidFill>
                <a:latin typeface="Canva Sans Bold"/>
                <a:ea typeface="Canva Sans Bold"/>
                <a:cs typeface="Canva Sans Bold"/>
                <a:sym typeface="Canva Sans Bold"/>
              </a:rPr>
              <a:t>Reduced false negatives and improved accuracy</a:t>
            </a:r>
          </a:p>
          <a:p>
            <a:pPr algn="ctr">
              <a:lnSpc>
                <a:spcPts val="4265"/>
              </a:lnSpc>
            </a:pPr>
          </a:p>
        </p:txBody>
      </p:sp>
      <p:grpSp>
        <p:nvGrpSpPr>
          <p:cNvPr name="Group 5" id="5"/>
          <p:cNvGrpSpPr/>
          <p:nvPr/>
        </p:nvGrpSpPr>
        <p:grpSpPr>
          <a:xfrm rot="0">
            <a:off x="8691792" y="1028700"/>
            <a:ext cx="275507" cy="9413396"/>
            <a:chOff x="0" y="0"/>
            <a:chExt cx="72562" cy="2479248"/>
          </a:xfrm>
        </p:grpSpPr>
        <p:sp>
          <p:nvSpPr>
            <p:cNvPr name="Freeform 6" id="6"/>
            <p:cNvSpPr/>
            <p:nvPr/>
          </p:nvSpPr>
          <p:spPr>
            <a:xfrm flipH="false" flipV="false" rot="0">
              <a:off x="0" y="0"/>
              <a:ext cx="72562" cy="2479248"/>
            </a:xfrm>
            <a:custGeom>
              <a:avLst/>
              <a:gdLst/>
              <a:ahLst/>
              <a:cxnLst/>
              <a:rect r="r" b="b" t="t" l="l"/>
              <a:pathLst>
                <a:path h="2479248" w="72562">
                  <a:moveTo>
                    <a:pt x="36281" y="0"/>
                  </a:moveTo>
                  <a:lnTo>
                    <a:pt x="72562" y="1239624"/>
                  </a:lnTo>
                  <a:lnTo>
                    <a:pt x="36281" y="2479248"/>
                  </a:lnTo>
                  <a:lnTo>
                    <a:pt x="0" y="1239624"/>
                  </a:lnTo>
                  <a:lnTo>
                    <a:pt x="36281" y="0"/>
                  </a:lnTo>
                  <a:close/>
                </a:path>
              </a:pathLst>
            </a:custGeom>
            <a:solidFill>
              <a:srgbClr val="000000"/>
            </a:solidFill>
          </p:spPr>
        </p:sp>
        <p:sp>
          <p:nvSpPr>
            <p:cNvPr name="TextBox 7" id="7"/>
            <p:cNvSpPr txBox="true"/>
            <p:nvPr/>
          </p:nvSpPr>
          <p:spPr>
            <a:xfrm>
              <a:off x="12472" y="407071"/>
              <a:ext cx="47618" cy="1646057"/>
            </a:xfrm>
            <a:prstGeom prst="rect">
              <a:avLst/>
            </a:prstGeom>
          </p:spPr>
          <p:txBody>
            <a:bodyPr anchor="ctr" rtlCol="false" tIns="50800" lIns="50800" bIns="50800" rIns="50800"/>
            <a:lstStyle/>
            <a:p>
              <a:pPr algn="ctr">
                <a:lnSpc>
                  <a:spcPts val="2469"/>
                </a:lnSpc>
              </a:pP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3337635" y="3874135"/>
            <a:ext cx="12395597" cy="2472055"/>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SENSITIVE TO WINDOW SIZE SELECTION (E.G., 150 TIMESTEPS)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HIGH COMPUTATIONAL COST DUE TO DEEP LEARNING MODELS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PERFORMANCE MAY DEGRADE ON DIFFERENT OR UNSEEN DATASETS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THRESHOLD SELECTION CAN AFFECT FALSE POSITIVES/NEGATIVES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COMPLEX PIPELINE SO DIFFICULT TO DEPLOY ON LIGHTWEIGHT DEVICES</a:t>
            </a:r>
          </a:p>
        </p:txBody>
      </p:sp>
      <p:sp>
        <p:nvSpPr>
          <p:cNvPr name="TextBox 3" id="3"/>
          <p:cNvSpPr txBox="true"/>
          <p:nvPr/>
        </p:nvSpPr>
        <p:spPr>
          <a:xfrm rot="0">
            <a:off x="901955" y="2310484"/>
            <a:ext cx="9649004"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LIMITATIONS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4585753" y="2869963"/>
            <a:ext cx="11771739" cy="5443855"/>
          </a:xfrm>
          <a:prstGeom prst="rect">
            <a:avLst/>
          </a:prstGeom>
        </p:spPr>
        <p:txBody>
          <a:bodyPr anchor="t" rtlCol="false" tIns="0" lIns="0" bIns="0" rIns="0">
            <a:spAutoFit/>
          </a:bodyPr>
          <a:lstStyle/>
          <a:p>
            <a:pPr algn="l">
              <a:lnSpc>
                <a:spcPts val="3919"/>
              </a:lnSpc>
            </a:pP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DEPLOYMENT IN REAL-TIME MONITORING SYSTEMS (TRAFFIC, FINANCE, HEALTHCARE, IOT)</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INTEGRATION WITH EDGE DEVICES FOR ON-DEVICE ANOMALY DETECTION</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USE OF ADVANCED MODELS LIKE TRANSFORMERS AND GRAPH NEURAL NETWORKS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DEVELOPMENT OF A FULLY REAL-TIME STREAMING PIPELINE</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ADDING EXPLAINABLE AI (XAI) TO INTERPRET DETECTED ANOMALIES</a:t>
            </a:r>
          </a:p>
          <a:p>
            <a:pPr algn="l" marL="604519" indent="-302260" lvl="1">
              <a:lnSpc>
                <a:spcPts val="3919"/>
              </a:lnSpc>
              <a:buFont typeface="Arial"/>
              <a:buChar char="•"/>
            </a:pPr>
            <a:r>
              <a:rPr lang="en-US" b="true" sz="2799" spc="-72">
                <a:solidFill>
                  <a:srgbClr val="000000"/>
                </a:solidFill>
                <a:latin typeface="TT Interphases Bold"/>
                <a:ea typeface="TT Interphases Bold"/>
                <a:cs typeface="TT Interphases Bold"/>
                <a:sym typeface="TT Interphases Bold"/>
              </a:rPr>
              <a:t>EXPANSION TO MULTI-DOMAIN ANOMALY DETECTION (NOT ONLY TRAFFIC DATA)</a:t>
            </a:r>
          </a:p>
        </p:txBody>
      </p:sp>
      <p:sp>
        <p:nvSpPr>
          <p:cNvPr name="TextBox 3" id="3"/>
          <p:cNvSpPr txBox="true"/>
          <p:nvPr/>
        </p:nvSpPr>
        <p:spPr>
          <a:xfrm rot="0">
            <a:off x="815114" y="1613632"/>
            <a:ext cx="10648105" cy="2362199"/>
          </a:xfrm>
          <a:prstGeom prst="rect">
            <a:avLst/>
          </a:prstGeom>
        </p:spPr>
        <p:txBody>
          <a:bodyPr anchor="t" rtlCol="false" tIns="0" lIns="0" bIns="0" rIns="0">
            <a:spAutoFit/>
          </a:bodyPr>
          <a:lstStyle/>
          <a:p>
            <a:pPr algn="l">
              <a:lnSpc>
                <a:spcPts val="8999"/>
              </a:lnSpc>
            </a:pPr>
            <a:r>
              <a:rPr lang="en-US" b="true" sz="9999" spc="-259">
                <a:solidFill>
                  <a:srgbClr val="161412"/>
                </a:solidFill>
                <a:latin typeface="TT Interphases Bold"/>
                <a:ea typeface="TT Interphases Bold"/>
                <a:cs typeface="TT Interphases Bold"/>
                <a:sym typeface="TT Interphases Bold"/>
              </a:rPr>
              <a:t>FUTURE SCOPE</a:t>
            </a:r>
          </a:p>
          <a:p>
            <a:pPr algn="l" marL="0" indent="0" lvl="0">
              <a:lnSpc>
                <a:spcPts val="899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4E3"/>
        </a:solidFill>
      </p:bgPr>
    </p:bg>
    <p:spTree>
      <p:nvGrpSpPr>
        <p:cNvPr id="1" name=""/>
        <p:cNvGrpSpPr/>
        <p:nvPr/>
      </p:nvGrpSpPr>
      <p:grpSpPr>
        <a:xfrm>
          <a:off x="0" y="0"/>
          <a:ext cx="0" cy="0"/>
          <a:chOff x="0" y="0"/>
          <a:chExt cx="0" cy="0"/>
        </a:xfrm>
      </p:grpSpPr>
      <p:sp>
        <p:nvSpPr>
          <p:cNvPr name="TextBox 2" id="2"/>
          <p:cNvSpPr txBox="true"/>
          <p:nvPr/>
        </p:nvSpPr>
        <p:spPr>
          <a:xfrm rot="0">
            <a:off x="4935256" y="557213"/>
            <a:ext cx="10149822" cy="1228724"/>
          </a:xfrm>
          <a:prstGeom prst="rect">
            <a:avLst/>
          </a:prstGeom>
        </p:spPr>
        <p:txBody>
          <a:bodyPr anchor="t" rtlCol="false" tIns="0" lIns="0" bIns="0" rIns="0">
            <a:spAutoFit/>
          </a:bodyPr>
          <a:lstStyle/>
          <a:p>
            <a:pPr algn="l" marL="0" indent="0" lvl="0">
              <a:lnSpc>
                <a:spcPts val="8999"/>
              </a:lnSpc>
            </a:pPr>
            <a:r>
              <a:rPr lang="en-US" b="true" sz="9999" spc="-259">
                <a:solidFill>
                  <a:srgbClr val="161412"/>
                </a:solidFill>
                <a:latin typeface="TT Interphases Bold"/>
                <a:ea typeface="TT Interphases Bold"/>
                <a:cs typeface="TT Interphases Bold"/>
                <a:sym typeface="TT Interphases Bold"/>
              </a:rPr>
              <a:t>CONCLUSION</a:t>
            </a:r>
          </a:p>
        </p:txBody>
      </p:sp>
      <p:grpSp>
        <p:nvGrpSpPr>
          <p:cNvPr name="Group 3" id="3"/>
          <p:cNvGrpSpPr/>
          <p:nvPr/>
        </p:nvGrpSpPr>
        <p:grpSpPr>
          <a:xfrm rot="0">
            <a:off x="4797361" y="1785937"/>
            <a:ext cx="8407748" cy="5859917"/>
            <a:chOff x="0" y="0"/>
            <a:chExt cx="2214386" cy="1543353"/>
          </a:xfrm>
        </p:grpSpPr>
        <p:sp>
          <p:nvSpPr>
            <p:cNvPr name="Freeform 4" id="4"/>
            <p:cNvSpPr/>
            <p:nvPr/>
          </p:nvSpPr>
          <p:spPr>
            <a:xfrm flipH="false" flipV="false" rot="0">
              <a:off x="0" y="0"/>
              <a:ext cx="2214386" cy="1543353"/>
            </a:xfrm>
            <a:custGeom>
              <a:avLst/>
              <a:gdLst/>
              <a:ahLst/>
              <a:cxnLst/>
              <a:rect r="r" b="b" t="t" l="l"/>
              <a:pathLst>
                <a:path h="1543353" w="2214386">
                  <a:moveTo>
                    <a:pt x="67219" y="0"/>
                  </a:moveTo>
                  <a:lnTo>
                    <a:pt x="2147167" y="0"/>
                  </a:lnTo>
                  <a:cubicBezTo>
                    <a:pt x="2184291" y="0"/>
                    <a:pt x="2214386" y="30095"/>
                    <a:pt x="2214386" y="67219"/>
                  </a:cubicBezTo>
                  <a:lnTo>
                    <a:pt x="2214386" y="1476134"/>
                  </a:lnTo>
                  <a:cubicBezTo>
                    <a:pt x="2214386" y="1513258"/>
                    <a:pt x="2184291" y="1543353"/>
                    <a:pt x="2147167" y="1543353"/>
                  </a:cubicBezTo>
                  <a:lnTo>
                    <a:pt x="67219" y="1543353"/>
                  </a:lnTo>
                  <a:cubicBezTo>
                    <a:pt x="30095" y="1543353"/>
                    <a:pt x="0" y="1513258"/>
                    <a:pt x="0" y="1476134"/>
                  </a:cubicBezTo>
                  <a:lnTo>
                    <a:pt x="0" y="67219"/>
                  </a:lnTo>
                  <a:cubicBezTo>
                    <a:pt x="0" y="30095"/>
                    <a:pt x="30095" y="0"/>
                    <a:pt x="67219" y="0"/>
                  </a:cubicBezTo>
                  <a:close/>
                </a:path>
              </a:pathLst>
            </a:custGeom>
            <a:solidFill>
              <a:srgbClr val="3C3A36"/>
            </a:solidFill>
            <a:ln w="19050" cap="rnd">
              <a:solidFill>
                <a:srgbClr val="000000"/>
              </a:solidFill>
              <a:prstDash val="solid"/>
              <a:round/>
            </a:ln>
          </p:spPr>
        </p:sp>
        <p:sp>
          <p:nvSpPr>
            <p:cNvPr name="TextBox 5" id="5"/>
            <p:cNvSpPr txBox="true"/>
            <p:nvPr/>
          </p:nvSpPr>
          <p:spPr>
            <a:xfrm>
              <a:off x="0" y="-38100"/>
              <a:ext cx="2214386" cy="158145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935256" y="1535430"/>
            <a:ext cx="8376880" cy="6149341"/>
          </a:xfrm>
          <a:prstGeom prst="rect">
            <a:avLst/>
          </a:prstGeom>
        </p:spPr>
        <p:txBody>
          <a:bodyPr anchor="t" rtlCol="false" tIns="0" lIns="0" bIns="0" rIns="0">
            <a:spAutoFit/>
          </a:bodyPr>
          <a:lstStyle/>
          <a:p>
            <a:pPr algn="l">
              <a:lnSpc>
                <a:spcPts val="4079"/>
              </a:lnSpc>
            </a:pPr>
          </a:p>
          <a:p>
            <a:pPr algn="l" marL="647694" indent="-323847" lvl="1">
              <a:lnSpc>
                <a:spcPts val="4079"/>
              </a:lnSpc>
              <a:buFont typeface="Arial"/>
              <a:buChar char="•"/>
            </a:pPr>
            <a:r>
              <a:rPr lang="en-US" sz="2999" spc="-74">
                <a:solidFill>
                  <a:srgbClr val="FFFFFF"/>
                </a:solidFill>
                <a:latin typeface="Nunito"/>
                <a:ea typeface="Nunito"/>
                <a:cs typeface="Nunito"/>
                <a:sym typeface="Nunito"/>
              </a:rPr>
              <a:t>Proposed hybrid model improves anomaly detection performance</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Combines:</a:t>
            </a:r>
          </a:p>
          <a:p>
            <a:pPr algn="l" marL="1295387" indent="-431796" lvl="2">
              <a:lnSpc>
                <a:spcPts val="4079"/>
              </a:lnSpc>
              <a:buFont typeface="Arial"/>
              <a:buChar char="⚬"/>
            </a:pPr>
            <a:r>
              <a:rPr lang="en-US" sz="2999" spc="-74">
                <a:solidFill>
                  <a:srgbClr val="FFFFFF"/>
                </a:solidFill>
                <a:latin typeface="Nunito"/>
                <a:ea typeface="Nunito"/>
                <a:cs typeface="Nunito"/>
                <a:sym typeface="Nunito"/>
              </a:rPr>
              <a:t>Masked Autoencoder (feature learning)</a:t>
            </a:r>
          </a:p>
          <a:p>
            <a:pPr algn="l" marL="1295387" indent="-431796" lvl="2">
              <a:lnSpc>
                <a:spcPts val="4079"/>
              </a:lnSpc>
              <a:buFont typeface="Arial"/>
              <a:buChar char="⚬"/>
            </a:pPr>
            <a:r>
              <a:rPr lang="en-US" sz="2999" spc="-74">
                <a:solidFill>
                  <a:srgbClr val="FFFFFF"/>
                </a:solidFill>
                <a:latin typeface="Nunito"/>
                <a:ea typeface="Nunito"/>
                <a:cs typeface="Nunito"/>
                <a:sym typeface="Nunito"/>
              </a:rPr>
              <a:t>Siamese Network (metric learning)</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Works effectively with limited labeled data</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Achieves strong generalization in real-world scenarios</a:t>
            </a:r>
          </a:p>
          <a:p>
            <a:pPr algn="l" marL="647694" indent="-323847" lvl="1">
              <a:lnSpc>
                <a:spcPts val="4079"/>
              </a:lnSpc>
              <a:buFont typeface="Arial"/>
              <a:buChar char="•"/>
            </a:pPr>
            <a:r>
              <a:rPr lang="en-US" sz="2999" spc="-74">
                <a:solidFill>
                  <a:srgbClr val="FFFFFF"/>
                </a:solidFill>
                <a:latin typeface="Nunito"/>
                <a:ea typeface="Nunito"/>
                <a:cs typeface="Nunito"/>
                <a:sym typeface="Nunito"/>
              </a:rPr>
              <a:t>Suitable for applications like healthcare, industry, and cybersecurity</a:t>
            </a:r>
          </a:p>
          <a:p>
            <a:pPr algn="l">
              <a:lnSpc>
                <a:spcPts val="407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4E3"/>
        </a:solidFill>
      </p:bgPr>
    </p:bg>
    <p:spTree>
      <p:nvGrpSpPr>
        <p:cNvPr id="1" name=""/>
        <p:cNvGrpSpPr/>
        <p:nvPr/>
      </p:nvGrpSpPr>
      <p:grpSpPr>
        <a:xfrm>
          <a:off x="0" y="0"/>
          <a:ext cx="0" cy="0"/>
          <a:chOff x="0" y="0"/>
          <a:chExt cx="0" cy="0"/>
        </a:xfrm>
      </p:grpSpPr>
      <p:grpSp>
        <p:nvGrpSpPr>
          <p:cNvPr name="Group 2" id="2"/>
          <p:cNvGrpSpPr/>
          <p:nvPr/>
        </p:nvGrpSpPr>
        <p:grpSpPr>
          <a:xfrm rot="0">
            <a:off x="12012930" y="1028700"/>
            <a:ext cx="5246370" cy="10057435"/>
            <a:chOff x="0" y="0"/>
            <a:chExt cx="812800" cy="1558160"/>
          </a:xfrm>
        </p:grpSpPr>
        <p:sp>
          <p:nvSpPr>
            <p:cNvPr name="Freeform 3" id="3"/>
            <p:cNvSpPr/>
            <p:nvPr/>
          </p:nvSpPr>
          <p:spPr>
            <a:xfrm flipH="false" flipV="false" rot="-100243">
              <a:off x="-19913" y="-8889"/>
              <a:ext cx="852626" cy="1575938"/>
            </a:xfrm>
            <a:custGeom>
              <a:avLst/>
              <a:gdLst/>
              <a:ahLst/>
              <a:cxnLst/>
              <a:rect r="r" b="b" t="t" l="l"/>
              <a:pathLst>
                <a:path h="1575938" w="852626">
                  <a:moveTo>
                    <a:pt x="134253" y="39"/>
                  </a:moveTo>
                  <a:lnTo>
                    <a:pt x="763802" y="18401"/>
                  </a:lnTo>
                  <a:cubicBezTo>
                    <a:pt x="788057" y="19109"/>
                    <a:pt x="811037" y="29423"/>
                    <a:pt x="827687" y="47074"/>
                  </a:cubicBezTo>
                  <a:cubicBezTo>
                    <a:pt x="844338" y="64725"/>
                    <a:pt x="853295" y="88267"/>
                    <a:pt x="852587" y="112522"/>
                  </a:cubicBezTo>
                  <a:lnTo>
                    <a:pt x="812493" y="1487114"/>
                  </a:lnTo>
                  <a:cubicBezTo>
                    <a:pt x="811786" y="1511368"/>
                    <a:pt x="801472" y="1534349"/>
                    <a:pt x="783821" y="1550999"/>
                  </a:cubicBezTo>
                  <a:cubicBezTo>
                    <a:pt x="766170" y="1567650"/>
                    <a:pt x="742628" y="1576606"/>
                    <a:pt x="718373" y="1575899"/>
                  </a:cubicBezTo>
                  <a:lnTo>
                    <a:pt x="88824" y="1557536"/>
                  </a:lnTo>
                  <a:cubicBezTo>
                    <a:pt x="64569" y="1556829"/>
                    <a:pt x="41589" y="1546515"/>
                    <a:pt x="24939" y="1528864"/>
                  </a:cubicBezTo>
                  <a:cubicBezTo>
                    <a:pt x="8288" y="1511213"/>
                    <a:pt x="-669" y="1487671"/>
                    <a:pt x="39" y="1463416"/>
                  </a:cubicBezTo>
                  <a:lnTo>
                    <a:pt x="40133" y="88824"/>
                  </a:lnTo>
                  <a:cubicBezTo>
                    <a:pt x="40840" y="64569"/>
                    <a:pt x="51154" y="41589"/>
                    <a:pt x="68805" y="24939"/>
                  </a:cubicBezTo>
                  <a:cubicBezTo>
                    <a:pt x="86456" y="8288"/>
                    <a:pt x="109998" y="-669"/>
                    <a:pt x="134253" y="39"/>
                  </a:cubicBezTo>
                  <a:close/>
                </a:path>
              </a:pathLst>
            </a:custGeom>
            <a:blipFill>
              <a:blip r:embed="rId2"/>
              <a:stretch>
                <a:fillRect l="-13759" t="-208" r="-10037" b="-166"/>
              </a:stretch>
            </a:blipFill>
          </p:spPr>
        </p:sp>
      </p:grpSp>
      <p:grpSp>
        <p:nvGrpSpPr>
          <p:cNvPr name="Group 4" id="4"/>
          <p:cNvGrpSpPr/>
          <p:nvPr/>
        </p:nvGrpSpPr>
        <p:grpSpPr>
          <a:xfrm rot="0">
            <a:off x="11443237" y="8223825"/>
            <a:ext cx="1835427" cy="1292741"/>
            <a:chOff x="0" y="0"/>
            <a:chExt cx="483405" cy="340475"/>
          </a:xfrm>
        </p:grpSpPr>
        <p:sp>
          <p:nvSpPr>
            <p:cNvPr name="Freeform 5" id="5"/>
            <p:cNvSpPr/>
            <p:nvPr/>
          </p:nvSpPr>
          <p:spPr>
            <a:xfrm flipH="false" flipV="false" rot="0">
              <a:off x="0" y="0"/>
              <a:ext cx="483405" cy="340475"/>
            </a:xfrm>
            <a:custGeom>
              <a:avLst/>
              <a:gdLst/>
              <a:ahLst/>
              <a:cxnLst/>
              <a:rect r="r" b="b" t="t" l="l"/>
              <a:pathLst>
                <a:path h="340475" w="483405">
                  <a:moveTo>
                    <a:pt x="170238" y="0"/>
                  </a:moveTo>
                  <a:lnTo>
                    <a:pt x="313167" y="0"/>
                  </a:lnTo>
                  <a:cubicBezTo>
                    <a:pt x="358317" y="0"/>
                    <a:pt x="401618" y="17936"/>
                    <a:pt x="433543" y="49861"/>
                  </a:cubicBezTo>
                  <a:cubicBezTo>
                    <a:pt x="465469" y="81787"/>
                    <a:pt x="483405" y="125088"/>
                    <a:pt x="483405" y="170238"/>
                  </a:cubicBezTo>
                  <a:lnTo>
                    <a:pt x="483405" y="170238"/>
                  </a:lnTo>
                  <a:cubicBezTo>
                    <a:pt x="483405" y="215387"/>
                    <a:pt x="465469" y="258688"/>
                    <a:pt x="433543" y="290614"/>
                  </a:cubicBezTo>
                  <a:cubicBezTo>
                    <a:pt x="401618" y="322539"/>
                    <a:pt x="358317" y="340475"/>
                    <a:pt x="313167" y="340475"/>
                  </a:cubicBezTo>
                  <a:lnTo>
                    <a:pt x="170238" y="340475"/>
                  </a:lnTo>
                  <a:cubicBezTo>
                    <a:pt x="125088" y="340475"/>
                    <a:pt x="81787" y="322539"/>
                    <a:pt x="49861" y="290614"/>
                  </a:cubicBezTo>
                  <a:cubicBezTo>
                    <a:pt x="17936" y="258688"/>
                    <a:pt x="0" y="215387"/>
                    <a:pt x="0" y="170238"/>
                  </a:cubicBezTo>
                  <a:lnTo>
                    <a:pt x="0" y="170238"/>
                  </a:lnTo>
                  <a:cubicBezTo>
                    <a:pt x="0" y="125088"/>
                    <a:pt x="17936" y="81787"/>
                    <a:pt x="49861" y="49861"/>
                  </a:cubicBezTo>
                  <a:cubicBezTo>
                    <a:pt x="81787" y="17936"/>
                    <a:pt x="125088" y="0"/>
                    <a:pt x="170238" y="0"/>
                  </a:cubicBezTo>
                  <a:close/>
                </a:path>
              </a:pathLst>
            </a:custGeom>
            <a:solidFill>
              <a:srgbClr val="FFF4E3"/>
            </a:solidFill>
          </p:spPr>
        </p:sp>
        <p:sp>
          <p:nvSpPr>
            <p:cNvPr name="TextBox 6" id="6"/>
            <p:cNvSpPr txBox="true"/>
            <p:nvPr/>
          </p:nvSpPr>
          <p:spPr>
            <a:xfrm>
              <a:off x="0" y="-38100"/>
              <a:ext cx="483405" cy="37857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1584747" y="7822591"/>
            <a:ext cx="805670" cy="805670"/>
          </a:xfrm>
          <a:custGeom>
            <a:avLst/>
            <a:gdLst/>
            <a:ahLst/>
            <a:cxnLst/>
            <a:rect r="r" b="b" t="t" l="l"/>
            <a:pathLst>
              <a:path h="805670" w="805670">
                <a:moveTo>
                  <a:pt x="0" y="0"/>
                </a:moveTo>
                <a:lnTo>
                  <a:pt x="805669" y="0"/>
                </a:lnTo>
                <a:lnTo>
                  <a:pt x="805669" y="805670"/>
                </a:lnTo>
                <a:lnTo>
                  <a:pt x="0" y="805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584747" y="9113731"/>
            <a:ext cx="805670" cy="805670"/>
          </a:xfrm>
          <a:custGeom>
            <a:avLst/>
            <a:gdLst/>
            <a:ahLst/>
            <a:cxnLst/>
            <a:rect r="r" b="b" t="t" l="l"/>
            <a:pathLst>
              <a:path h="805670" w="805670">
                <a:moveTo>
                  <a:pt x="0" y="0"/>
                </a:moveTo>
                <a:lnTo>
                  <a:pt x="805669" y="0"/>
                </a:lnTo>
                <a:lnTo>
                  <a:pt x="805669" y="805670"/>
                </a:lnTo>
                <a:lnTo>
                  <a:pt x="0" y="805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952938" y="8482091"/>
            <a:ext cx="12045100" cy="776209"/>
            <a:chOff x="0" y="0"/>
            <a:chExt cx="3172372" cy="204434"/>
          </a:xfrm>
        </p:grpSpPr>
        <p:sp>
          <p:nvSpPr>
            <p:cNvPr name="Freeform 10" id="10"/>
            <p:cNvSpPr/>
            <p:nvPr/>
          </p:nvSpPr>
          <p:spPr>
            <a:xfrm flipH="false" flipV="false" rot="0">
              <a:off x="0" y="0"/>
              <a:ext cx="3172372" cy="204434"/>
            </a:xfrm>
            <a:custGeom>
              <a:avLst/>
              <a:gdLst/>
              <a:ahLst/>
              <a:cxnLst/>
              <a:rect r="r" b="b" t="t" l="l"/>
              <a:pathLst>
                <a:path h="204434" w="3172372">
                  <a:moveTo>
                    <a:pt x="46920" y="0"/>
                  </a:moveTo>
                  <a:lnTo>
                    <a:pt x="3125452" y="0"/>
                  </a:lnTo>
                  <a:cubicBezTo>
                    <a:pt x="3137896" y="0"/>
                    <a:pt x="3149830" y="4943"/>
                    <a:pt x="3158629" y="13743"/>
                  </a:cubicBezTo>
                  <a:cubicBezTo>
                    <a:pt x="3167429" y="22542"/>
                    <a:pt x="3172372" y="34476"/>
                    <a:pt x="3172372" y="46920"/>
                  </a:cubicBezTo>
                  <a:lnTo>
                    <a:pt x="3172372" y="157513"/>
                  </a:lnTo>
                  <a:cubicBezTo>
                    <a:pt x="3172372" y="169957"/>
                    <a:pt x="3167429" y="181892"/>
                    <a:pt x="3158629" y="190691"/>
                  </a:cubicBezTo>
                  <a:cubicBezTo>
                    <a:pt x="3149830" y="199490"/>
                    <a:pt x="3137896" y="204434"/>
                    <a:pt x="3125452" y="204434"/>
                  </a:cubicBezTo>
                  <a:lnTo>
                    <a:pt x="46920" y="204434"/>
                  </a:lnTo>
                  <a:cubicBezTo>
                    <a:pt x="34476" y="204434"/>
                    <a:pt x="22542" y="199490"/>
                    <a:pt x="13743" y="190691"/>
                  </a:cubicBezTo>
                  <a:cubicBezTo>
                    <a:pt x="4943" y="181892"/>
                    <a:pt x="0" y="169957"/>
                    <a:pt x="0" y="157513"/>
                  </a:cubicBezTo>
                  <a:lnTo>
                    <a:pt x="0" y="46920"/>
                  </a:lnTo>
                  <a:cubicBezTo>
                    <a:pt x="0" y="34476"/>
                    <a:pt x="4943" y="22542"/>
                    <a:pt x="13743" y="13743"/>
                  </a:cubicBezTo>
                  <a:cubicBezTo>
                    <a:pt x="22542" y="4943"/>
                    <a:pt x="34476" y="0"/>
                    <a:pt x="46920" y="0"/>
                  </a:cubicBezTo>
                  <a:close/>
                </a:path>
              </a:pathLst>
            </a:custGeom>
            <a:solidFill>
              <a:srgbClr val="3C3A36"/>
            </a:solidFill>
          </p:spPr>
        </p:sp>
        <p:sp>
          <p:nvSpPr>
            <p:cNvPr name="TextBox 11" id="11"/>
            <p:cNvSpPr txBox="true"/>
            <p:nvPr/>
          </p:nvSpPr>
          <p:spPr>
            <a:xfrm>
              <a:off x="0" y="-38100"/>
              <a:ext cx="3172372" cy="24253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52155" y="1508614"/>
            <a:ext cx="10663877" cy="5250765"/>
          </a:xfrm>
          <a:prstGeom prst="rect">
            <a:avLst/>
          </a:prstGeom>
        </p:spPr>
        <p:txBody>
          <a:bodyPr anchor="t" rtlCol="false" tIns="0" lIns="0" bIns="0" rIns="0">
            <a:spAutoFit/>
          </a:bodyPr>
          <a:lstStyle/>
          <a:p>
            <a:pPr algn="l" marL="0" indent="0" lvl="0">
              <a:lnSpc>
                <a:spcPts val="19863"/>
              </a:lnSpc>
            </a:pPr>
            <a:r>
              <a:rPr lang="en-US" b="true" sz="22070" spc="-573">
                <a:solidFill>
                  <a:srgbClr val="161412"/>
                </a:solidFill>
                <a:latin typeface="TT Interphases Bold"/>
                <a:ea typeface="TT Interphases Bold"/>
                <a:cs typeface="TT Interphases Bold"/>
                <a:sym typeface="TT Interphases Bold"/>
              </a:rPr>
              <a:t>TH</a:t>
            </a:r>
            <a:r>
              <a:rPr lang="en-US" b="true" sz="22070" spc="-573">
                <a:solidFill>
                  <a:srgbClr val="161412"/>
                </a:solidFill>
                <a:latin typeface="TT Interphases Bold"/>
                <a:ea typeface="TT Interphases Bold"/>
                <a:cs typeface="TT Interphases Bold"/>
                <a:sym typeface="TT Interphases Bold"/>
              </a:rPr>
              <a:t>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DAHIKAh8zpc</dc:identifier>
  <dcterms:modified xsi:type="dcterms:W3CDTF">2011-08-01T06:04:30Z</dcterms:modified>
  <cp:revision>1</cp:revision>
  <dc:title>499BPPT</dc:title>
</cp:coreProperties>
</file>