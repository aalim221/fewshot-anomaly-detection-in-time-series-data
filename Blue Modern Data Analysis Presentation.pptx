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charset="1" panose="00000500000000000000"/>
      <p:regular r:id="rId18"/>
    </p:embeddedFont>
    <p:embeddedFont>
      <p:font typeface="Canva Sans Bold" charset="1" panose="020B0803030501040103"/>
      <p:regular r:id="rId19"/>
    </p:embeddedFont>
    <p:embeddedFont>
      <p:font typeface="Canva Sans" charset="1" panose="020B0503030501040103"/>
      <p:regular r:id="rId20"/>
    </p:embeddedFont>
    <p:embeddedFont>
      <p:font typeface="Poppins Bold" charset="1" panose="00000800000000000000"/>
      <p:regular r:id="rId21"/>
    </p:embeddedFont>
    <p:embeddedFont>
      <p:font typeface="Zen Dots"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2.jpeg" Type="http://schemas.openxmlformats.org/officeDocument/2006/relationships/image"/><Relationship Id="rId5" Target="../media/image13.jpe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096" t="0" r="-14096" b="-51837"/>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19FF">
                <a:alpha val="20784"/>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8528202" y="9061735"/>
            <a:ext cx="1274721" cy="451551"/>
          </a:xfrm>
          <a:prstGeom prst="rect">
            <a:avLst/>
          </a:prstGeom>
        </p:spPr>
        <p:txBody>
          <a:bodyPr anchor="t" rtlCol="false" tIns="0" lIns="0" bIns="0" rIns="0">
            <a:spAutoFit/>
          </a:bodyPr>
          <a:lstStyle/>
          <a:p>
            <a:pPr algn="ctr">
              <a:lnSpc>
                <a:spcPts val="3461"/>
              </a:lnSpc>
            </a:pPr>
            <a:r>
              <a:rPr lang="en-US" sz="2472">
                <a:solidFill>
                  <a:srgbClr val="FFFFFF"/>
                </a:solidFill>
                <a:latin typeface="Poppins"/>
                <a:ea typeface="Poppins"/>
                <a:cs typeface="Poppins"/>
                <a:sym typeface="Poppins"/>
              </a:rPr>
              <a:t>-</a:t>
            </a:r>
          </a:p>
        </p:txBody>
      </p:sp>
      <p:sp>
        <p:nvSpPr>
          <p:cNvPr name="TextBox 7" id="7"/>
          <p:cNvSpPr txBox="true"/>
          <p:nvPr/>
        </p:nvSpPr>
        <p:spPr>
          <a:xfrm rot="0">
            <a:off x="0" y="78746"/>
            <a:ext cx="18288000" cy="2113098"/>
          </a:xfrm>
          <a:prstGeom prst="rect">
            <a:avLst/>
          </a:prstGeom>
        </p:spPr>
        <p:txBody>
          <a:bodyPr anchor="t" rtlCol="false" tIns="0" lIns="0" bIns="0" rIns="0">
            <a:spAutoFit/>
          </a:bodyPr>
          <a:lstStyle/>
          <a:p>
            <a:pPr algn="ctr">
              <a:lnSpc>
                <a:spcPts val="8480"/>
              </a:lnSpc>
            </a:pPr>
            <a:r>
              <a:rPr lang="en-US" sz="6057" b="true">
                <a:solidFill>
                  <a:srgbClr val="FFFFFF"/>
                </a:solidFill>
                <a:latin typeface="Canva Sans Bold"/>
                <a:ea typeface="Canva Sans Bold"/>
                <a:cs typeface="Canva Sans Bold"/>
                <a:sym typeface="Canva Sans Bold"/>
              </a:rPr>
              <a:t> Few-shot Anomaly Detection</a:t>
            </a:r>
          </a:p>
          <a:p>
            <a:pPr algn="ctr">
              <a:lnSpc>
                <a:spcPts val="8480"/>
              </a:lnSpc>
            </a:pPr>
            <a:r>
              <a:rPr lang="en-US" sz="6057" b="true">
                <a:solidFill>
                  <a:srgbClr val="FFFFFF"/>
                </a:solidFill>
                <a:latin typeface="Canva Sans Bold"/>
                <a:ea typeface="Canva Sans Bold"/>
                <a:cs typeface="Canva Sans Bold"/>
                <a:sym typeface="Canva Sans Bold"/>
              </a:rPr>
              <a:t>In Time Series Data</a:t>
            </a:r>
          </a:p>
        </p:txBody>
      </p:sp>
      <p:sp>
        <p:nvSpPr>
          <p:cNvPr name="TextBox 8" id="8"/>
          <p:cNvSpPr txBox="true"/>
          <p:nvPr/>
        </p:nvSpPr>
        <p:spPr>
          <a:xfrm rot="0">
            <a:off x="0" y="2710321"/>
            <a:ext cx="18288000"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Team Mates</a:t>
            </a:r>
          </a:p>
        </p:txBody>
      </p:sp>
      <p:sp>
        <p:nvSpPr>
          <p:cNvPr name="TextBox 9" id="9"/>
          <p:cNvSpPr txBox="true"/>
          <p:nvPr/>
        </p:nvSpPr>
        <p:spPr>
          <a:xfrm rot="0">
            <a:off x="5898610" y="4012857"/>
            <a:ext cx="6016125" cy="828041"/>
          </a:xfrm>
          <a:prstGeom prst="rect">
            <a:avLst/>
          </a:prstGeom>
        </p:spPr>
        <p:txBody>
          <a:bodyPr anchor="t" rtlCol="false" tIns="0" lIns="0" bIns="0" rIns="0">
            <a:spAutoFit/>
          </a:bodyPr>
          <a:lstStyle/>
          <a:p>
            <a:pPr algn="ctr">
              <a:lnSpc>
                <a:spcPts val="6859"/>
              </a:lnSpc>
            </a:pPr>
            <a:r>
              <a:rPr lang="en-US" sz="4899">
                <a:solidFill>
                  <a:srgbClr val="FFFFFF"/>
                </a:solidFill>
                <a:latin typeface="Canva Sans"/>
                <a:ea typeface="Canva Sans"/>
                <a:cs typeface="Canva Sans"/>
                <a:sym typeface="Canva Sans"/>
              </a:rPr>
              <a:t>1.A.Alim</a:t>
            </a:r>
          </a:p>
        </p:txBody>
      </p:sp>
      <p:sp>
        <p:nvSpPr>
          <p:cNvPr name="TextBox 10" id="10"/>
          <p:cNvSpPr txBox="true"/>
          <p:nvPr/>
        </p:nvSpPr>
        <p:spPr>
          <a:xfrm rot="0">
            <a:off x="7520174" y="4875044"/>
            <a:ext cx="5034860" cy="828041"/>
          </a:xfrm>
          <a:prstGeom prst="rect">
            <a:avLst/>
          </a:prstGeom>
        </p:spPr>
        <p:txBody>
          <a:bodyPr anchor="t" rtlCol="false" tIns="0" lIns="0" bIns="0" rIns="0">
            <a:spAutoFit/>
          </a:bodyPr>
          <a:lstStyle/>
          <a:p>
            <a:pPr algn="ctr">
              <a:lnSpc>
                <a:spcPts val="6859"/>
              </a:lnSpc>
            </a:pPr>
            <a:r>
              <a:rPr lang="en-US" sz="4899">
                <a:solidFill>
                  <a:srgbClr val="FFFFFF"/>
                </a:solidFill>
                <a:latin typeface="Canva Sans"/>
                <a:ea typeface="Canva Sans"/>
                <a:cs typeface="Canva Sans"/>
                <a:sym typeface="Canva Sans"/>
              </a:rPr>
              <a:t>2.Farea Mahdea</a:t>
            </a:r>
          </a:p>
        </p:txBody>
      </p:sp>
      <p:sp>
        <p:nvSpPr>
          <p:cNvPr name="TextBox 11" id="11"/>
          <p:cNvSpPr txBox="true"/>
          <p:nvPr/>
        </p:nvSpPr>
        <p:spPr>
          <a:xfrm rot="0">
            <a:off x="5898610" y="5837400"/>
            <a:ext cx="7395108" cy="828041"/>
          </a:xfrm>
          <a:prstGeom prst="rect">
            <a:avLst/>
          </a:prstGeom>
        </p:spPr>
        <p:txBody>
          <a:bodyPr anchor="t" rtlCol="false" tIns="0" lIns="0" bIns="0" rIns="0">
            <a:spAutoFit/>
          </a:bodyPr>
          <a:lstStyle/>
          <a:p>
            <a:pPr algn="ctr">
              <a:lnSpc>
                <a:spcPts val="6859"/>
              </a:lnSpc>
            </a:pPr>
            <a:r>
              <a:rPr lang="en-US" sz="4899">
                <a:solidFill>
                  <a:srgbClr val="FFFFFF"/>
                </a:solidFill>
                <a:latin typeface="Canva Sans"/>
                <a:ea typeface="Canva Sans"/>
                <a:cs typeface="Canva Sans"/>
                <a:sym typeface="Canva Sans"/>
              </a:rPr>
              <a:t>3.Anik Barua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640">
                <a:alpha val="100000"/>
              </a:srgbClr>
            </a:gs>
            <a:gs pos="100000">
              <a:srgbClr val="020070">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893774" y="2856807"/>
            <a:ext cx="3086100" cy="5446038"/>
            <a:chOff x="0" y="0"/>
            <a:chExt cx="812800" cy="1434347"/>
          </a:xfrm>
        </p:grpSpPr>
        <p:sp>
          <p:nvSpPr>
            <p:cNvPr name="Freeform 3" id="3"/>
            <p:cNvSpPr/>
            <p:nvPr/>
          </p:nvSpPr>
          <p:spPr>
            <a:xfrm flipH="false" flipV="false" rot="0">
              <a:off x="0" y="0"/>
              <a:ext cx="812800" cy="1434347"/>
            </a:xfrm>
            <a:custGeom>
              <a:avLst/>
              <a:gdLst/>
              <a:ahLst/>
              <a:cxnLst/>
              <a:rect r="r" b="b" t="t" l="l"/>
              <a:pathLst>
                <a:path h="1434347" w="812800">
                  <a:moveTo>
                    <a:pt x="0" y="0"/>
                  </a:moveTo>
                  <a:lnTo>
                    <a:pt x="812800" y="0"/>
                  </a:lnTo>
                  <a:lnTo>
                    <a:pt x="812800" y="1434347"/>
                  </a:lnTo>
                  <a:lnTo>
                    <a:pt x="0" y="1434347"/>
                  </a:lnTo>
                  <a:close/>
                </a:path>
              </a:pathLst>
            </a:custGeom>
            <a:gradFill rotWithShape="true">
              <a:gsLst>
                <a:gs pos="0">
                  <a:srgbClr val="00E8FF">
                    <a:alpha val="100000"/>
                  </a:srgbClr>
                </a:gs>
                <a:gs pos="100000">
                  <a:srgbClr val="0076E4">
                    <a:alpha val="100000"/>
                  </a:srgbClr>
                </a:gs>
              </a:gsLst>
              <a:lin ang="5400000"/>
            </a:gradFill>
          </p:spPr>
        </p:sp>
        <p:sp>
          <p:nvSpPr>
            <p:cNvPr name="TextBox 4" id="4"/>
            <p:cNvSpPr txBox="true"/>
            <p:nvPr/>
          </p:nvSpPr>
          <p:spPr>
            <a:xfrm>
              <a:off x="0" y="-57150"/>
              <a:ext cx="812800" cy="1491497"/>
            </a:xfrm>
            <a:prstGeom prst="rect">
              <a:avLst/>
            </a:prstGeom>
          </p:spPr>
          <p:txBody>
            <a:bodyPr anchor="ctr" rtlCol="false" tIns="50800" lIns="50800" bIns="50800" rIns="50800"/>
            <a:lstStyle/>
            <a:p>
              <a:pPr algn="ctr">
                <a:lnSpc>
                  <a:spcPts val="2871"/>
                </a:lnSpc>
              </a:pPr>
            </a:p>
          </p:txBody>
        </p:sp>
      </p:grpSp>
      <p:grpSp>
        <p:nvGrpSpPr>
          <p:cNvPr name="Group 5" id="5"/>
          <p:cNvGrpSpPr/>
          <p:nvPr/>
        </p:nvGrpSpPr>
        <p:grpSpPr>
          <a:xfrm rot="0">
            <a:off x="1642351" y="2392921"/>
            <a:ext cx="5023431" cy="5909924"/>
            <a:chOff x="0" y="0"/>
            <a:chExt cx="778261" cy="915602"/>
          </a:xfrm>
        </p:grpSpPr>
        <p:sp>
          <p:nvSpPr>
            <p:cNvPr name="Freeform 6" id="6"/>
            <p:cNvSpPr/>
            <p:nvPr/>
          </p:nvSpPr>
          <p:spPr>
            <a:xfrm flipH="false" flipV="false" rot="0">
              <a:off x="0" y="0"/>
              <a:ext cx="778261" cy="915602"/>
            </a:xfrm>
            <a:custGeom>
              <a:avLst/>
              <a:gdLst/>
              <a:ahLst/>
              <a:cxnLst/>
              <a:rect r="r" b="b" t="t" l="l"/>
              <a:pathLst>
                <a:path h="915602" w="778261">
                  <a:moveTo>
                    <a:pt x="0" y="0"/>
                  </a:moveTo>
                  <a:lnTo>
                    <a:pt x="778261" y="0"/>
                  </a:lnTo>
                  <a:lnTo>
                    <a:pt x="778261" y="915602"/>
                  </a:lnTo>
                  <a:lnTo>
                    <a:pt x="0" y="915602"/>
                  </a:lnTo>
                  <a:close/>
                </a:path>
              </a:pathLst>
            </a:custGeom>
            <a:blipFill>
              <a:blip r:embed="rId2"/>
              <a:stretch>
                <a:fillRect l="-66191" t="0" r="-10224" b="0"/>
              </a:stretch>
            </a:blipFill>
          </p:spPr>
        </p:sp>
      </p:grpSp>
      <p:sp>
        <p:nvSpPr>
          <p:cNvPr name="Freeform 7" id="7"/>
          <p:cNvSpPr/>
          <p:nvPr/>
        </p:nvSpPr>
        <p:spPr>
          <a:xfrm flipH="false" flipV="false" rot="8831280">
            <a:off x="-2149749" y="2740944"/>
            <a:ext cx="4001809" cy="4001809"/>
          </a:xfrm>
          <a:custGeom>
            <a:avLst/>
            <a:gdLst/>
            <a:ahLst/>
            <a:cxnLst/>
            <a:rect r="r" b="b" t="t" l="l"/>
            <a:pathLst>
              <a:path h="4001809" w="4001809">
                <a:moveTo>
                  <a:pt x="0" y="0"/>
                </a:moveTo>
                <a:lnTo>
                  <a:pt x="4001809" y="0"/>
                </a:lnTo>
                <a:lnTo>
                  <a:pt x="4001809" y="4001809"/>
                </a:lnTo>
                <a:lnTo>
                  <a:pt x="0" y="4001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8" id="8"/>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Freeform 9" id="9"/>
          <p:cNvSpPr/>
          <p:nvPr/>
        </p:nvSpPr>
        <p:spPr>
          <a:xfrm flipH="false" flipV="false" rot="-1886788">
            <a:off x="16349986" y="3775189"/>
            <a:ext cx="4464076" cy="4464076"/>
          </a:xfrm>
          <a:custGeom>
            <a:avLst/>
            <a:gdLst/>
            <a:ahLst/>
            <a:cxnLst/>
            <a:rect r="r" b="b" t="t" l="l"/>
            <a:pathLst>
              <a:path h="4464076" w="4464076">
                <a:moveTo>
                  <a:pt x="0" y="0"/>
                </a:moveTo>
                <a:lnTo>
                  <a:pt x="4464076" y="0"/>
                </a:lnTo>
                <a:lnTo>
                  <a:pt x="4464076" y="4464076"/>
                </a:lnTo>
                <a:lnTo>
                  <a:pt x="0" y="44640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5762422" y="712045"/>
            <a:ext cx="1421291" cy="358775"/>
          </a:xfrm>
          <a:prstGeom prst="rect">
            <a:avLst/>
          </a:prstGeom>
        </p:spPr>
        <p:txBody>
          <a:bodyPr anchor="t" rtlCol="false" tIns="0" lIns="0" bIns="0" rIns="0">
            <a:spAutoFit/>
          </a:bodyPr>
          <a:lstStyle/>
          <a:p>
            <a:pPr algn="ctr">
              <a:lnSpc>
                <a:spcPts val="2799"/>
              </a:lnSpc>
              <a:spcBef>
                <a:spcPct val="0"/>
              </a:spcBef>
            </a:pPr>
            <a:r>
              <a:rPr lang="en-US" b="true" sz="1999" spc="3">
                <a:solidFill>
                  <a:srgbClr val="020F8D"/>
                </a:solidFill>
                <a:latin typeface="Poppins Bold"/>
                <a:ea typeface="Poppins Bold"/>
                <a:cs typeface="Poppins Bold"/>
                <a:sym typeface="Poppins Bold"/>
              </a:rPr>
              <a:t>Page 02</a:t>
            </a:r>
          </a:p>
        </p:txBody>
      </p:sp>
      <p:sp>
        <p:nvSpPr>
          <p:cNvPr name="TextBox 11" id="11"/>
          <p:cNvSpPr txBox="true"/>
          <p:nvPr/>
        </p:nvSpPr>
        <p:spPr>
          <a:xfrm rot="0">
            <a:off x="7532118" y="2590968"/>
            <a:ext cx="9493153" cy="4386199"/>
          </a:xfrm>
          <a:prstGeom prst="rect">
            <a:avLst/>
          </a:prstGeom>
        </p:spPr>
        <p:txBody>
          <a:bodyPr anchor="t" rtlCol="false" tIns="0" lIns="0" bIns="0" rIns="0">
            <a:spAutoFit/>
          </a:bodyPr>
          <a:lstStyle/>
          <a:p>
            <a:pPr algn="just">
              <a:lnSpc>
                <a:spcPts val="3457"/>
              </a:lnSpc>
            </a:pPr>
            <a:r>
              <a:rPr lang="en-US" sz="2599" spc="-72">
                <a:solidFill>
                  <a:srgbClr val="FFFFFF"/>
                </a:solidFill>
                <a:latin typeface="Poppins"/>
                <a:ea typeface="Poppins"/>
                <a:cs typeface="Poppins"/>
                <a:sym typeface="Poppins"/>
              </a:rPr>
              <a:t>A</a:t>
            </a:r>
            <a:r>
              <a:rPr lang="en-US" sz="2599" spc="-72">
                <a:solidFill>
                  <a:srgbClr val="FFFFFF"/>
                </a:solidFill>
                <a:latin typeface="Poppins"/>
                <a:ea typeface="Poppins"/>
                <a:cs typeface="Poppins"/>
                <a:sym typeface="Poppins"/>
              </a:rPr>
              <a:t>nomaly detection plays a vital role in identifying unusual patterns within time series data. Time series data is commonly utilized in sectors like finance, healthcare, and manufacturing. However, anomalies are typically infrequent, which makes detection difficult, especially when the data is limited. Few-shot anomaly detection focuses on identifying anomalies with minimal labeled examples. This approach is particularly beneficial in practical applications where data availability is limited.</a:t>
            </a:r>
          </a:p>
          <a:p>
            <a:pPr algn="just">
              <a:lnSpc>
                <a:spcPts val="3457"/>
              </a:lnSpc>
            </a:pPr>
          </a:p>
        </p:txBody>
      </p:sp>
      <p:sp>
        <p:nvSpPr>
          <p:cNvPr name="TextBox 12" id="12"/>
          <p:cNvSpPr txBox="true"/>
          <p:nvPr/>
        </p:nvSpPr>
        <p:spPr>
          <a:xfrm rot="0">
            <a:off x="0" y="673945"/>
            <a:ext cx="18110562"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Intro</a:t>
            </a:r>
            <a:r>
              <a:rPr lang="en-US" b="true" sz="5199">
                <a:solidFill>
                  <a:srgbClr val="FFFFFF"/>
                </a:solidFill>
                <a:latin typeface="Canva Sans Bold"/>
                <a:ea typeface="Canva Sans Bold"/>
                <a:cs typeface="Canva Sans Bold"/>
                <a:sym typeface="Canva Sans Bold"/>
              </a:rPr>
              <a:t>duction to Few-Shot Anomaly Detection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070">
                <a:alpha val="100000"/>
              </a:srgbClr>
            </a:gs>
            <a:gs pos="100000">
              <a:srgbClr val="00064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1028683" y="9272587"/>
            <a:ext cx="16230600" cy="19050"/>
          </a:xfrm>
          <a:prstGeom prst="line">
            <a:avLst/>
          </a:prstGeom>
          <a:ln cap="flat" w="19050">
            <a:solidFill>
              <a:srgbClr val="FFFFFF"/>
            </a:solidFill>
            <a:prstDash val="solid"/>
            <a:headEnd type="none" len="sm" w="sm"/>
            <a:tailEnd type="none" len="sm" w="sm"/>
          </a:ln>
        </p:spPr>
      </p:sp>
      <p:grpSp>
        <p:nvGrpSpPr>
          <p:cNvPr name="Group 3" id="3"/>
          <p:cNvGrpSpPr/>
          <p:nvPr/>
        </p:nvGrpSpPr>
        <p:grpSpPr>
          <a:xfrm rot="0">
            <a:off x="11529929" y="2933753"/>
            <a:ext cx="3086100" cy="5269946"/>
            <a:chOff x="0" y="0"/>
            <a:chExt cx="812800" cy="1387969"/>
          </a:xfrm>
        </p:grpSpPr>
        <p:sp>
          <p:nvSpPr>
            <p:cNvPr name="Freeform 4" id="4"/>
            <p:cNvSpPr/>
            <p:nvPr/>
          </p:nvSpPr>
          <p:spPr>
            <a:xfrm flipH="false" flipV="false" rot="0">
              <a:off x="0" y="0"/>
              <a:ext cx="812800" cy="1387969"/>
            </a:xfrm>
            <a:custGeom>
              <a:avLst/>
              <a:gdLst/>
              <a:ahLst/>
              <a:cxnLst/>
              <a:rect r="r" b="b" t="t" l="l"/>
              <a:pathLst>
                <a:path h="1387969" w="812800">
                  <a:moveTo>
                    <a:pt x="0" y="0"/>
                  </a:moveTo>
                  <a:lnTo>
                    <a:pt x="812800" y="0"/>
                  </a:lnTo>
                  <a:lnTo>
                    <a:pt x="812800" y="1387969"/>
                  </a:lnTo>
                  <a:lnTo>
                    <a:pt x="0" y="1387969"/>
                  </a:lnTo>
                  <a:close/>
                </a:path>
              </a:pathLst>
            </a:custGeom>
            <a:gradFill rotWithShape="true">
              <a:gsLst>
                <a:gs pos="0">
                  <a:srgbClr val="00E8FF">
                    <a:alpha val="100000"/>
                  </a:srgbClr>
                </a:gs>
                <a:gs pos="100000">
                  <a:srgbClr val="0076E4">
                    <a:alpha val="100000"/>
                  </a:srgbClr>
                </a:gs>
              </a:gsLst>
              <a:lin ang="5400000"/>
            </a:gradFill>
          </p:spPr>
        </p:sp>
        <p:sp>
          <p:nvSpPr>
            <p:cNvPr name="TextBox 5" id="5"/>
            <p:cNvSpPr txBox="true"/>
            <p:nvPr/>
          </p:nvSpPr>
          <p:spPr>
            <a:xfrm>
              <a:off x="0" y="-57150"/>
              <a:ext cx="812800" cy="1445119"/>
            </a:xfrm>
            <a:prstGeom prst="rect">
              <a:avLst/>
            </a:prstGeom>
          </p:spPr>
          <p:txBody>
            <a:bodyPr anchor="ctr" rtlCol="false" tIns="50800" lIns="50800" bIns="50800" rIns="50800"/>
            <a:lstStyle/>
            <a:p>
              <a:pPr algn="ctr">
                <a:lnSpc>
                  <a:spcPts val="2871"/>
                </a:lnSpc>
              </a:pPr>
            </a:p>
          </p:txBody>
        </p:sp>
      </p:grpSp>
      <p:grpSp>
        <p:nvGrpSpPr>
          <p:cNvPr name="Group 6" id="6"/>
          <p:cNvGrpSpPr/>
          <p:nvPr/>
        </p:nvGrpSpPr>
        <p:grpSpPr>
          <a:xfrm rot="0">
            <a:off x="11865716" y="2484866"/>
            <a:ext cx="6934340" cy="5718833"/>
            <a:chOff x="0" y="0"/>
            <a:chExt cx="1074311" cy="885997"/>
          </a:xfrm>
        </p:grpSpPr>
        <p:sp>
          <p:nvSpPr>
            <p:cNvPr name="Freeform 7" id="7"/>
            <p:cNvSpPr/>
            <p:nvPr/>
          </p:nvSpPr>
          <p:spPr>
            <a:xfrm flipH="false" flipV="false" rot="0">
              <a:off x="0" y="0"/>
              <a:ext cx="1074311" cy="885997"/>
            </a:xfrm>
            <a:custGeom>
              <a:avLst/>
              <a:gdLst/>
              <a:ahLst/>
              <a:cxnLst/>
              <a:rect r="r" b="b" t="t" l="l"/>
              <a:pathLst>
                <a:path h="885997" w="1074311">
                  <a:moveTo>
                    <a:pt x="0" y="0"/>
                  </a:moveTo>
                  <a:lnTo>
                    <a:pt x="1074311" y="0"/>
                  </a:lnTo>
                  <a:lnTo>
                    <a:pt x="1074311" y="885997"/>
                  </a:lnTo>
                  <a:lnTo>
                    <a:pt x="0" y="885997"/>
                  </a:lnTo>
                  <a:close/>
                </a:path>
              </a:pathLst>
            </a:custGeom>
            <a:blipFill>
              <a:blip r:embed="rId2"/>
              <a:stretch>
                <a:fillRect l="-15976" t="0" r="-15976" b="0"/>
              </a:stretch>
            </a:blipFill>
          </p:spPr>
        </p:sp>
      </p:grpSp>
      <p:sp>
        <p:nvSpPr>
          <p:cNvPr name="Freeform 8" id="8"/>
          <p:cNvSpPr/>
          <p:nvPr/>
        </p:nvSpPr>
        <p:spPr>
          <a:xfrm flipH="false" flipV="false" rot="0">
            <a:off x="-3306817" y="1295381"/>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365905" y="1844427"/>
            <a:ext cx="11062117" cy="4722284"/>
          </a:xfrm>
          <a:prstGeom prst="rect">
            <a:avLst/>
          </a:prstGeom>
        </p:spPr>
        <p:txBody>
          <a:bodyPr anchor="t" rtlCol="false" tIns="0" lIns="0" bIns="0" rIns="0">
            <a:spAutoFit/>
          </a:bodyPr>
          <a:lstStyle/>
          <a:p>
            <a:pPr algn="just" marL="466134" indent="-233067" lvl="1">
              <a:lnSpc>
                <a:spcPts val="2871"/>
              </a:lnSpc>
              <a:buFont typeface="Arial"/>
              <a:buChar char="•"/>
            </a:pPr>
            <a:r>
              <a:rPr lang="en-US" sz="2159" spc="-60">
                <a:solidFill>
                  <a:srgbClr val="FFFFFF"/>
                </a:solidFill>
                <a:latin typeface="Poppins"/>
                <a:ea typeface="Poppins"/>
                <a:cs typeface="Poppins"/>
                <a:sym typeface="Poppins"/>
              </a:rPr>
              <a:t>Anomaly detection with limited data is a significant challenge in many domains.</a:t>
            </a:r>
          </a:p>
          <a:p>
            <a:pPr algn="just">
              <a:lnSpc>
                <a:spcPts val="2871"/>
              </a:lnSpc>
            </a:pPr>
          </a:p>
          <a:p>
            <a:pPr algn="just" marL="466134" indent="-233067" lvl="1">
              <a:lnSpc>
                <a:spcPts val="2871"/>
              </a:lnSpc>
              <a:buFont typeface="Arial"/>
              <a:buChar char="•"/>
            </a:pPr>
            <a:r>
              <a:rPr lang="en-US" sz="2159" spc="-60">
                <a:solidFill>
                  <a:srgbClr val="FFFFFF"/>
                </a:solidFill>
                <a:latin typeface="Poppins"/>
                <a:ea typeface="Poppins"/>
                <a:cs typeface="Poppins"/>
                <a:sym typeface="Poppins"/>
              </a:rPr>
              <a:t>In time series data, the anomalies are often rare, making them harder to identify.</a:t>
            </a:r>
          </a:p>
          <a:p>
            <a:pPr algn="just">
              <a:lnSpc>
                <a:spcPts val="2871"/>
              </a:lnSpc>
            </a:pPr>
          </a:p>
          <a:p>
            <a:pPr algn="just" marL="466134" indent="-233067" lvl="1">
              <a:lnSpc>
                <a:spcPts val="2871"/>
              </a:lnSpc>
              <a:buFont typeface="Arial"/>
              <a:buChar char="•"/>
            </a:pPr>
            <a:r>
              <a:rPr lang="en-US" sz="2159" spc="-60">
                <a:solidFill>
                  <a:srgbClr val="FFFFFF"/>
                </a:solidFill>
                <a:latin typeface="Poppins"/>
                <a:ea typeface="Poppins"/>
                <a:cs typeface="Poppins"/>
                <a:sym typeface="Poppins"/>
              </a:rPr>
              <a:t>Lack of labeled data and the high cost of manual labeling complicates the training process.</a:t>
            </a:r>
          </a:p>
          <a:p>
            <a:pPr algn="just">
              <a:lnSpc>
                <a:spcPts val="2871"/>
              </a:lnSpc>
            </a:pPr>
          </a:p>
          <a:p>
            <a:pPr algn="just" marL="466134" indent="-233067" lvl="1">
              <a:lnSpc>
                <a:spcPts val="2871"/>
              </a:lnSpc>
              <a:buFont typeface="Arial"/>
              <a:buChar char="•"/>
            </a:pPr>
            <a:r>
              <a:rPr lang="en-US" sz="2159" spc="-60">
                <a:solidFill>
                  <a:srgbClr val="FFFFFF"/>
                </a:solidFill>
                <a:latin typeface="Poppins"/>
                <a:ea typeface="Poppins"/>
                <a:cs typeface="Poppins"/>
                <a:sym typeface="Poppins"/>
              </a:rPr>
              <a:t>The complexity of time-series data, including seasonality and trends, adds to the difficulty.</a:t>
            </a:r>
          </a:p>
          <a:p>
            <a:pPr algn="just">
              <a:lnSpc>
                <a:spcPts val="2871"/>
              </a:lnSpc>
            </a:pPr>
          </a:p>
          <a:p>
            <a:pPr algn="just" marL="466134" indent="-233067" lvl="1">
              <a:lnSpc>
                <a:spcPts val="2871"/>
              </a:lnSpc>
              <a:buFont typeface="Arial"/>
              <a:buChar char="•"/>
            </a:pPr>
            <a:r>
              <a:rPr lang="en-US" sz="2159" spc="-60">
                <a:solidFill>
                  <a:srgbClr val="FFFFFF"/>
                </a:solidFill>
                <a:latin typeface="Poppins"/>
                <a:ea typeface="Poppins"/>
                <a:cs typeface="Poppins"/>
                <a:sym typeface="Poppins"/>
              </a:rPr>
              <a:t>Traditional methods require large datasets, which may not always be available in practical scenarios.</a:t>
            </a:r>
          </a:p>
          <a:p>
            <a:pPr algn="just">
              <a:lnSpc>
                <a:spcPts val="2871"/>
              </a:lnSpc>
            </a:pPr>
          </a:p>
        </p:txBody>
      </p:sp>
      <p:sp>
        <p:nvSpPr>
          <p:cNvPr name="TextBox 10" id="10"/>
          <p:cNvSpPr txBox="true"/>
          <p:nvPr/>
        </p:nvSpPr>
        <p:spPr>
          <a:xfrm rot="0">
            <a:off x="791559" y="205960"/>
            <a:ext cx="9446963" cy="643956"/>
          </a:xfrm>
          <a:prstGeom prst="rect">
            <a:avLst/>
          </a:prstGeom>
        </p:spPr>
        <p:txBody>
          <a:bodyPr anchor="t" rtlCol="false" tIns="0" lIns="0" bIns="0" rIns="0">
            <a:spAutoFit/>
          </a:bodyPr>
          <a:lstStyle/>
          <a:p>
            <a:pPr algn="ctr">
              <a:lnSpc>
                <a:spcPts val="5241"/>
              </a:lnSpc>
            </a:pPr>
            <a:r>
              <a:rPr lang="en-US" sz="3744" b="true">
                <a:solidFill>
                  <a:srgbClr val="FFFFFF"/>
                </a:solidFill>
                <a:latin typeface="Canva Sans Bold"/>
                <a:ea typeface="Canva Sans Bold"/>
                <a:cs typeface="Canva Sans Bold"/>
                <a:sym typeface="Canva Sans Bold"/>
              </a:rPr>
              <a:t>Challenges in </a:t>
            </a:r>
            <a:r>
              <a:rPr lang="en-US" b="true" sz="3744">
                <a:solidFill>
                  <a:srgbClr val="FFFFFF"/>
                </a:solidFill>
                <a:latin typeface="Canva Sans Bold"/>
                <a:ea typeface="Canva Sans Bold"/>
                <a:cs typeface="Canva Sans Bold"/>
                <a:sym typeface="Canva Sans Bold"/>
              </a:rPr>
              <a:t>Anomaly Detection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640">
                <a:alpha val="100000"/>
              </a:srgbClr>
            </a:gs>
            <a:gs pos="100000">
              <a:srgbClr val="02007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815206" y="2402329"/>
            <a:ext cx="6145566" cy="5832701"/>
          </a:xfrm>
          <a:custGeom>
            <a:avLst/>
            <a:gdLst/>
            <a:ahLst/>
            <a:cxnLst/>
            <a:rect r="r" b="b" t="t" l="l"/>
            <a:pathLst>
              <a:path h="5832701" w="6145566">
                <a:moveTo>
                  <a:pt x="0" y="0"/>
                </a:moveTo>
                <a:lnTo>
                  <a:pt x="6145567" y="0"/>
                </a:lnTo>
                <a:lnTo>
                  <a:pt x="6145567" y="5832701"/>
                </a:lnTo>
                <a:lnTo>
                  <a:pt x="0" y="5832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TextBox 4" id="4"/>
          <p:cNvSpPr txBox="true"/>
          <p:nvPr/>
        </p:nvSpPr>
        <p:spPr>
          <a:xfrm rot="0">
            <a:off x="596064" y="2292778"/>
            <a:ext cx="10826265" cy="5630838"/>
          </a:xfrm>
          <a:prstGeom prst="rect">
            <a:avLst/>
          </a:prstGeom>
        </p:spPr>
        <p:txBody>
          <a:bodyPr anchor="t" rtlCol="false" tIns="0" lIns="0" bIns="0" rIns="0">
            <a:spAutoFit/>
          </a:bodyPr>
          <a:lstStyle/>
          <a:p>
            <a:pPr algn="just" marL="482010" indent="-241005" lvl="1">
              <a:lnSpc>
                <a:spcPts val="2969"/>
              </a:lnSpc>
              <a:buFont typeface="Arial"/>
              <a:buChar char="•"/>
            </a:pPr>
            <a:r>
              <a:rPr lang="en-US" sz="2232" spc="-62">
                <a:solidFill>
                  <a:srgbClr val="FFFFFF"/>
                </a:solidFill>
                <a:latin typeface="Poppins"/>
                <a:ea typeface="Poppins"/>
                <a:cs typeface="Poppins"/>
                <a:sym typeface="Poppins"/>
              </a:rPr>
              <a:t>FewSOME is a method based on Siamese networks for detecting anomalies with few samples.</a:t>
            </a:r>
          </a:p>
          <a:p>
            <a:pPr algn="just">
              <a:lnSpc>
                <a:spcPts val="2969"/>
              </a:lnSpc>
            </a:pPr>
          </a:p>
          <a:p>
            <a:pPr algn="just" marL="482010" indent="-241005" lvl="1">
              <a:lnSpc>
                <a:spcPts val="2969"/>
              </a:lnSpc>
              <a:buFont typeface="Arial"/>
              <a:buChar char="•"/>
            </a:pPr>
            <a:r>
              <a:rPr lang="en-US" sz="2232" spc="-62">
                <a:solidFill>
                  <a:srgbClr val="FFFFFF"/>
                </a:solidFill>
                <a:latin typeface="Poppins"/>
                <a:ea typeface="Poppins"/>
                <a:cs typeface="Poppins"/>
                <a:sym typeface="Poppins"/>
              </a:rPr>
              <a:t>The model is trained on only a few normal samples and detects deviations from normality.</a:t>
            </a:r>
          </a:p>
          <a:p>
            <a:pPr algn="just">
              <a:lnSpc>
                <a:spcPts val="2969"/>
              </a:lnSpc>
            </a:pPr>
          </a:p>
          <a:p>
            <a:pPr algn="just" marL="482010" indent="-241005" lvl="1">
              <a:lnSpc>
                <a:spcPts val="2969"/>
              </a:lnSpc>
              <a:buFont typeface="Arial"/>
              <a:buChar char="•"/>
            </a:pPr>
            <a:r>
              <a:rPr lang="en-US" sz="2232" spc="-62">
                <a:solidFill>
                  <a:srgbClr val="FFFFFF"/>
                </a:solidFill>
                <a:latin typeface="Poppins"/>
                <a:ea typeface="Poppins"/>
                <a:cs typeface="Poppins"/>
                <a:sym typeface="Poppins"/>
              </a:rPr>
              <a:t>It does not require labeled anomalous data, which is beneficial for real-world applications.</a:t>
            </a:r>
          </a:p>
          <a:p>
            <a:pPr algn="just">
              <a:lnSpc>
                <a:spcPts val="2969"/>
              </a:lnSpc>
            </a:pPr>
          </a:p>
          <a:p>
            <a:pPr algn="just" marL="482010" indent="-241005" lvl="1">
              <a:lnSpc>
                <a:spcPts val="2969"/>
              </a:lnSpc>
              <a:buFont typeface="Arial"/>
              <a:buChar char="•"/>
            </a:pPr>
            <a:r>
              <a:rPr lang="en-US" sz="2232" spc="-62">
                <a:solidFill>
                  <a:srgbClr val="FFFFFF"/>
                </a:solidFill>
                <a:latin typeface="Poppins"/>
                <a:ea typeface="Poppins"/>
                <a:cs typeface="Poppins"/>
                <a:sym typeface="Poppins"/>
              </a:rPr>
              <a:t>The use of a Siamese network allows the model to map normal data into feature embeddings.</a:t>
            </a:r>
          </a:p>
          <a:p>
            <a:pPr algn="just">
              <a:lnSpc>
                <a:spcPts val="2969"/>
              </a:lnSpc>
            </a:pPr>
          </a:p>
          <a:p>
            <a:pPr algn="just" marL="482010" indent="-241005" lvl="1">
              <a:lnSpc>
                <a:spcPts val="2969"/>
              </a:lnSpc>
              <a:buFont typeface="Arial"/>
              <a:buChar char="•"/>
            </a:pPr>
            <a:r>
              <a:rPr lang="en-US" sz="2232" spc="-62">
                <a:solidFill>
                  <a:srgbClr val="FFFFFF"/>
                </a:solidFill>
                <a:latin typeface="Poppins"/>
                <a:ea typeface="Poppins"/>
                <a:cs typeface="Poppins"/>
                <a:sym typeface="Poppins"/>
              </a:rPr>
              <a:t>FewSOME outperforms traditional methods even with very few samples, providing a state-of-the-art solution.</a:t>
            </a:r>
          </a:p>
          <a:p>
            <a:pPr algn="just">
              <a:lnSpc>
                <a:spcPts val="2969"/>
              </a:lnSpc>
            </a:pPr>
          </a:p>
        </p:txBody>
      </p:sp>
      <p:sp>
        <p:nvSpPr>
          <p:cNvPr name="TextBox 5" id="5"/>
          <p:cNvSpPr txBox="true"/>
          <p:nvPr/>
        </p:nvSpPr>
        <p:spPr>
          <a:xfrm rot="0">
            <a:off x="1736149" y="216811"/>
            <a:ext cx="15151236" cy="1756893"/>
          </a:xfrm>
          <a:prstGeom prst="rect">
            <a:avLst/>
          </a:prstGeom>
        </p:spPr>
        <p:txBody>
          <a:bodyPr anchor="t" rtlCol="false" tIns="0" lIns="0" bIns="0" rIns="0">
            <a:spAutoFit/>
          </a:bodyPr>
          <a:lstStyle/>
          <a:p>
            <a:pPr algn="ctr">
              <a:lnSpc>
                <a:spcPts val="7037"/>
              </a:lnSpc>
            </a:pPr>
            <a:r>
              <a:rPr lang="en-US" sz="5026" b="true">
                <a:solidFill>
                  <a:srgbClr val="FFFFFF"/>
                </a:solidFill>
                <a:latin typeface="Canva Sans Bold"/>
                <a:ea typeface="Canva Sans Bold"/>
                <a:cs typeface="Canva Sans Bold"/>
                <a:sym typeface="Canva Sans Bold"/>
              </a:rPr>
              <a:t>Overview</a:t>
            </a:r>
            <a:r>
              <a:rPr lang="en-US" b="true" sz="5026">
                <a:solidFill>
                  <a:srgbClr val="FFFFFF"/>
                </a:solidFill>
                <a:latin typeface="Canva Sans Bold"/>
                <a:ea typeface="Canva Sans Bold"/>
                <a:cs typeface="Canva Sans Bold"/>
                <a:sym typeface="Canva Sans Bold"/>
              </a:rPr>
              <a:t> of FewSOME (Few Shot Anomaly        Detection Method)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20070">
                    <a:alpha val="67000"/>
                  </a:srgbClr>
                </a:gs>
                <a:gs pos="100000">
                  <a:srgbClr val="000640">
                    <a:alpha val="67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a:p>
              <a:pPr algn="ctr">
                <a:lnSpc>
                  <a:spcPts val="2659"/>
                </a:lnSpc>
                <a:spcBef>
                  <a:spcPct val="0"/>
                </a:spcBef>
              </a:pPr>
            </a:p>
          </p:txBody>
        </p:sp>
      </p:grpSp>
      <p:sp>
        <p:nvSpPr>
          <p:cNvPr name="AutoShape 6" id="6"/>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TextBox 7" id="7"/>
          <p:cNvSpPr txBox="true"/>
          <p:nvPr/>
        </p:nvSpPr>
        <p:spPr>
          <a:xfrm rot="0">
            <a:off x="636242" y="2179916"/>
            <a:ext cx="16077707" cy="8049189"/>
          </a:xfrm>
          <a:prstGeom prst="rect">
            <a:avLst/>
          </a:prstGeom>
        </p:spPr>
        <p:txBody>
          <a:bodyPr anchor="t" rtlCol="false" tIns="0" lIns="0" bIns="0" rIns="0">
            <a:spAutoFit/>
          </a:bodyPr>
          <a:lstStyle/>
          <a:p>
            <a:pPr algn="l" marL="658586" indent="-329293" lvl="1">
              <a:lnSpc>
                <a:spcPts val="4057"/>
              </a:lnSpc>
              <a:buFont typeface="Arial"/>
              <a:buChar char="•"/>
            </a:pPr>
            <a:r>
              <a:rPr lang="en-US" sz="3050" spc="-85">
                <a:solidFill>
                  <a:srgbClr val="FFFFFF"/>
                </a:solidFill>
                <a:latin typeface="Poppins"/>
                <a:ea typeface="Poppins"/>
                <a:cs typeface="Poppins"/>
                <a:sym typeface="Poppins"/>
              </a:rPr>
              <a:t>Siamese networks use two identical sub-networks that share weights to compare data samples.</a:t>
            </a:r>
          </a:p>
          <a:p>
            <a:pPr algn="l" marL="658586" indent="-329293" lvl="1">
              <a:lnSpc>
                <a:spcPts val="4057"/>
              </a:lnSpc>
              <a:buFont typeface="Arial"/>
              <a:buChar char="•"/>
            </a:pPr>
            <a:r>
              <a:rPr lang="en-US" sz="3050" spc="-85">
                <a:solidFill>
                  <a:srgbClr val="FFFFFF"/>
                </a:solidFill>
                <a:latin typeface="Poppins"/>
                <a:ea typeface="Poppins"/>
                <a:cs typeface="Poppins"/>
                <a:sym typeface="Poppins"/>
              </a:rPr>
              <a:t>The network learns to minimize the distance between normal data points in the feature space.</a:t>
            </a:r>
          </a:p>
          <a:p>
            <a:pPr algn="l">
              <a:lnSpc>
                <a:spcPts val="4057"/>
              </a:lnSpc>
            </a:pPr>
          </a:p>
          <a:p>
            <a:pPr algn="l" marL="658586" indent="-329293" lvl="1">
              <a:lnSpc>
                <a:spcPts val="4057"/>
              </a:lnSpc>
              <a:buFont typeface="Arial"/>
              <a:buChar char="•"/>
            </a:pPr>
            <a:r>
              <a:rPr lang="en-US" sz="3050" spc="-85">
                <a:solidFill>
                  <a:srgbClr val="FFFFFF"/>
                </a:solidFill>
                <a:latin typeface="Poppins"/>
                <a:ea typeface="Poppins"/>
                <a:cs typeface="Poppins"/>
                <a:sym typeface="Poppins"/>
              </a:rPr>
              <a:t>Stop Loss is introduced to prevent representational collapse, ensuring stable learning.</a:t>
            </a:r>
          </a:p>
          <a:p>
            <a:pPr algn="l">
              <a:lnSpc>
                <a:spcPts val="4057"/>
              </a:lnSpc>
            </a:pPr>
          </a:p>
          <a:p>
            <a:pPr algn="l" marL="658586" indent="-329293" lvl="1">
              <a:lnSpc>
                <a:spcPts val="4057"/>
              </a:lnSpc>
              <a:buFont typeface="Arial"/>
              <a:buChar char="•"/>
            </a:pPr>
            <a:r>
              <a:rPr lang="en-US" sz="3050" spc="-85">
                <a:solidFill>
                  <a:srgbClr val="FFFFFF"/>
                </a:solidFill>
                <a:latin typeface="Poppins"/>
                <a:ea typeface="Poppins"/>
                <a:cs typeface="Poppins"/>
                <a:sym typeface="Poppins"/>
              </a:rPr>
              <a:t>This technique allows the model to generalize well even when limited data is available.</a:t>
            </a:r>
          </a:p>
          <a:p>
            <a:pPr algn="l">
              <a:lnSpc>
                <a:spcPts val="4057"/>
              </a:lnSpc>
            </a:pPr>
          </a:p>
          <a:p>
            <a:pPr algn="l" marL="658586" indent="-329293" lvl="1">
              <a:lnSpc>
                <a:spcPts val="4057"/>
              </a:lnSpc>
              <a:buFont typeface="Arial"/>
              <a:buChar char="•"/>
            </a:pPr>
            <a:r>
              <a:rPr lang="en-US" sz="3050" spc="-85">
                <a:solidFill>
                  <a:srgbClr val="FFFFFF"/>
                </a:solidFill>
                <a:latin typeface="Poppins"/>
                <a:ea typeface="Poppins"/>
                <a:cs typeface="Poppins"/>
                <a:sym typeface="Poppins"/>
              </a:rPr>
              <a:t>The use of a shared feature space and the Stop Loss mechanism improves model robustness.</a:t>
            </a:r>
          </a:p>
          <a:p>
            <a:pPr algn="l">
              <a:lnSpc>
                <a:spcPts val="3525"/>
              </a:lnSpc>
            </a:pPr>
          </a:p>
          <a:p>
            <a:pPr algn="l">
              <a:lnSpc>
                <a:spcPts val="3525"/>
              </a:lnSpc>
            </a:pPr>
          </a:p>
          <a:p>
            <a:pPr algn="l">
              <a:lnSpc>
                <a:spcPts val="3525"/>
              </a:lnSpc>
            </a:pPr>
          </a:p>
        </p:txBody>
      </p:sp>
      <p:sp>
        <p:nvSpPr>
          <p:cNvPr name="TextBox 8" id="8"/>
          <p:cNvSpPr txBox="true"/>
          <p:nvPr/>
        </p:nvSpPr>
        <p:spPr>
          <a:xfrm rot="0">
            <a:off x="4636421" y="330512"/>
            <a:ext cx="9165729"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Tec</a:t>
            </a:r>
            <a:r>
              <a:rPr lang="en-US" b="true" sz="5000">
                <a:solidFill>
                  <a:srgbClr val="FFFFFF"/>
                </a:solidFill>
                <a:latin typeface="Canva Sans Bold"/>
                <a:ea typeface="Canva Sans Bold"/>
                <a:cs typeface="Canva Sans Bold"/>
                <a:sym typeface="Canva Sans Bold"/>
              </a:rPr>
              <a:t>hnology Behind FewSOME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070">
                <a:alpha val="100000"/>
              </a:srgbClr>
            </a:gs>
            <a:gs pos="100000">
              <a:srgbClr val="00064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Freeform 3" id="3"/>
          <p:cNvSpPr/>
          <p:nvPr/>
        </p:nvSpPr>
        <p:spPr>
          <a:xfrm flipH="false" flipV="false" rot="0">
            <a:off x="13179897" y="2396664"/>
            <a:ext cx="5919398" cy="5704147"/>
          </a:xfrm>
          <a:custGeom>
            <a:avLst/>
            <a:gdLst/>
            <a:ahLst/>
            <a:cxnLst/>
            <a:rect r="r" b="b" t="t" l="l"/>
            <a:pathLst>
              <a:path h="5704147" w="5919398">
                <a:moveTo>
                  <a:pt x="0" y="0"/>
                </a:moveTo>
                <a:lnTo>
                  <a:pt x="5919398" y="0"/>
                </a:lnTo>
                <a:lnTo>
                  <a:pt x="5919398" y="5704147"/>
                </a:lnTo>
                <a:lnTo>
                  <a:pt x="0" y="57041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1994268"/>
            <a:ext cx="11214580" cy="6899665"/>
          </a:xfrm>
          <a:prstGeom prst="rect">
            <a:avLst/>
          </a:prstGeom>
        </p:spPr>
        <p:txBody>
          <a:bodyPr anchor="t" rtlCol="false" tIns="0" lIns="0" bIns="0" rIns="0">
            <a:spAutoFit/>
          </a:bodyPr>
          <a:lstStyle/>
          <a:p>
            <a:pPr algn="just" marL="589906" indent="-294953" lvl="1">
              <a:lnSpc>
                <a:spcPts val="3633"/>
              </a:lnSpc>
              <a:buFont typeface="Arial"/>
              <a:buChar char="•"/>
            </a:pPr>
            <a:r>
              <a:rPr lang="en-US" sz="2732" spc="-76">
                <a:solidFill>
                  <a:srgbClr val="FFFFFF"/>
                </a:solidFill>
                <a:latin typeface="Poppins"/>
                <a:ea typeface="Poppins"/>
                <a:cs typeface="Poppins"/>
                <a:sym typeface="Poppins"/>
              </a:rPr>
              <a:t>FewSOME is evaluated on benchmark datasets like MNIST, CIFAR-10, and Fashion-MNIST.</a:t>
            </a:r>
          </a:p>
          <a:p>
            <a:pPr algn="just">
              <a:lnSpc>
                <a:spcPts val="3633"/>
              </a:lnSpc>
            </a:pPr>
          </a:p>
          <a:p>
            <a:pPr algn="just" marL="589906" indent="-294953" lvl="1">
              <a:lnSpc>
                <a:spcPts val="3633"/>
              </a:lnSpc>
              <a:buFont typeface="Arial"/>
              <a:buChar char="•"/>
            </a:pPr>
            <a:r>
              <a:rPr lang="en-US" sz="2732" spc="-76">
                <a:solidFill>
                  <a:srgbClr val="FFFFFF"/>
                </a:solidFill>
                <a:latin typeface="Poppins"/>
                <a:ea typeface="Poppins"/>
                <a:cs typeface="Poppins"/>
                <a:sym typeface="Poppins"/>
              </a:rPr>
              <a:t>These datasets provide both image-based and real-world data to assess the model’s performance.</a:t>
            </a:r>
          </a:p>
          <a:p>
            <a:pPr algn="just">
              <a:lnSpc>
                <a:spcPts val="3633"/>
              </a:lnSpc>
            </a:pPr>
          </a:p>
          <a:p>
            <a:pPr algn="just" marL="589906" indent="-294953" lvl="1">
              <a:lnSpc>
                <a:spcPts val="3633"/>
              </a:lnSpc>
              <a:buFont typeface="Arial"/>
              <a:buChar char="•"/>
            </a:pPr>
            <a:r>
              <a:rPr lang="en-US" sz="2732" spc="-76">
                <a:solidFill>
                  <a:srgbClr val="FFFFFF"/>
                </a:solidFill>
                <a:latin typeface="Poppins"/>
                <a:ea typeface="Poppins"/>
                <a:cs typeface="Poppins"/>
                <a:sym typeface="Poppins"/>
              </a:rPr>
              <a:t>Key evaluation metrics include AUC (Area Under the Curve), F1 score, and Balanced Accuracy.</a:t>
            </a:r>
          </a:p>
          <a:p>
            <a:pPr algn="just">
              <a:lnSpc>
                <a:spcPts val="3633"/>
              </a:lnSpc>
            </a:pPr>
          </a:p>
          <a:p>
            <a:pPr algn="just" marL="589906" indent="-294953" lvl="1">
              <a:lnSpc>
                <a:spcPts val="3633"/>
              </a:lnSpc>
              <a:buFont typeface="Arial"/>
              <a:buChar char="•"/>
            </a:pPr>
            <a:r>
              <a:rPr lang="en-US" sz="2732" spc="-76">
                <a:solidFill>
                  <a:srgbClr val="FFFFFF"/>
                </a:solidFill>
                <a:latin typeface="Poppins"/>
                <a:ea typeface="Poppins"/>
                <a:cs typeface="Poppins"/>
                <a:sym typeface="Poppins"/>
              </a:rPr>
              <a:t>The performance of FewSOME is compared with other anomaly detection methods.</a:t>
            </a:r>
          </a:p>
          <a:p>
            <a:pPr algn="just" marL="589906" indent="-294953" lvl="1">
              <a:lnSpc>
                <a:spcPts val="3633"/>
              </a:lnSpc>
              <a:buFont typeface="Arial"/>
              <a:buChar char="•"/>
            </a:pPr>
            <a:r>
              <a:rPr lang="en-US" sz="2732" spc="-76">
                <a:solidFill>
                  <a:srgbClr val="FFFFFF"/>
                </a:solidFill>
                <a:latin typeface="Poppins"/>
                <a:ea typeface="Poppins"/>
                <a:cs typeface="Poppins"/>
                <a:sym typeface="Poppins"/>
              </a:rPr>
              <a:t>FewSOME demonstrates superior results, especially with a small number of normal samples.</a:t>
            </a:r>
          </a:p>
          <a:p>
            <a:pPr algn="just">
              <a:lnSpc>
                <a:spcPts val="3633"/>
              </a:lnSpc>
            </a:pPr>
          </a:p>
          <a:p>
            <a:pPr algn="just">
              <a:lnSpc>
                <a:spcPts val="3633"/>
              </a:lnSpc>
            </a:pPr>
          </a:p>
        </p:txBody>
      </p:sp>
      <p:sp>
        <p:nvSpPr>
          <p:cNvPr name="TextBox 5" id="5"/>
          <p:cNvSpPr txBox="true"/>
          <p:nvPr/>
        </p:nvSpPr>
        <p:spPr>
          <a:xfrm rot="0">
            <a:off x="426781" y="134795"/>
            <a:ext cx="17237422" cy="1517012"/>
          </a:xfrm>
          <a:prstGeom prst="rect">
            <a:avLst/>
          </a:prstGeom>
        </p:spPr>
        <p:txBody>
          <a:bodyPr anchor="t" rtlCol="false" tIns="0" lIns="0" bIns="0" rIns="0">
            <a:spAutoFit/>
          </a:bodyPr>
          <a:lstStyle/>
          <a:p>
            <a:pPr algn="ctr">
              <a:lnSpc>
                <a:spcPts val="12460"/>
              </a:lnSpc>
            </a:pPr>
            <a:r>
              <a:rPr lang="en-US" sz="8900" b="true">
                <a:solidFill>
                  <a:srgbClr val="FFFFFF"/>
                </a:solidFill>
                <a:latin typeface="Canva Sans Bold"/>
                <a:ea typeface="Canva Sans Bold"/>
                <a:cs typeface="Canva Sans Bold"/>
                <a:sym typeface="Canva Sans Bold"/>
              </a:rPr>
              <a:t>Dataset an</a:t>
            </a:r>
            <a:r>
              <a:rPr lang="en-US" b="true" sz="8900">
                <a:solidFill>
                  <a:srgbClr val="FFFFFF"/>
                </a:solidFill>
                <a:latin typeface="Canva Sans Bold"/>
                <a:ea typeface="Canva Sans Bold"/>
                <a:cs typeface="Canva Sans Bold"/>
                <a:sym typeface="Canva Sans Bold"/>
              </a:rPr>
              <a:t>d Evaluation Metrics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640">
                <a:alpha val="100000"/>
              </a:srgbClr>
            </a:gs>
            <a:gs pos="100000">
              <a:srgbClr val="020070">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2811052" y="3019148"/>
            <a:ext cx="4522428" cy="5181900"/>
            <a:chOff x="0" y="0"/>
            <a:chExt cx="1191092" cy="1364780"/>
          </a:xfrm>
        </p:grpSpPr>
        <p:sp>
          <p:nvSpPr>
            <p:cNvPr name="Freeform 3" id="3"/>
            <p:cNvSpPr/>
            <p:nvPr/>
          </p:nvSpPr>
          <p:spPr>
            <a:xfrm flipH="false" flipV="false" rot="0">
              <a:off x="0" y="0"/>
              <a:ext cx="1191092" cy="1364780"/>
            </a:xfrm>
            <a:custGeom>
              <a:avLst/>
              <a:gdLst/>
              <a:ahLst/>
              <a:cxnLst/>
              <a:rect r="r" b="b" t="t" l="l"/>
              <a:pathLst>
                <a:path h="1364780" w="1191092">
                  <a:moveTo>
                    <a:pt x="0" y="0"/>
                  </a:moveTo>
                  <a:lnTo>
                    <a:pt x="1191092" y="0"/>
                  </a:lnTo>
                  <a:lnTo>
                    <a:pt x="1191092" y="1364780"/>
                  </a:lnTo>
                  <a:lnTo>
                    <a:pt x="0" y="1364780"/>
                  </a:lnTo>
                  <a:close/>
                </a:path>
              </a:pathLst>
            </a:custGeom>
            <a:gradFill rotWithShape="true">
              <a:gsLst>
                <a:gs pos="0">
                  <a:srgbClr val="00E8FF">
                    <a:alpha val="100000"/>
                  </a:srgbClr>
                </a:gs>
                <a:gs pos="100000">
                  <a:srgbClr val="0076E4">
                    <a:alpha val="100000"/>
                  </a:srgbClr>
                </a:gs>
              </a:gsLst>
              <a:lin ang="5400000"/>
            </a:gradFill>
          </p:spPr>
        </p:sp>
        <p:sp>
          <p:nvSpPr>
            <p:cNvPr name="TextBox 4" id="4"/>
            <p:cNvSpPr txBox="true"/>
            <p:nvPr/>
          </p:nvSpPr>
          <p:spPr>
            <a:xfrm>
              <a:off x="0" y="-57150"/>
              <a:ext cx="1191092" cy="1421930"/>
            </a:xfrm>
            <a:prstGeom prst="rect">
              <a:avLst/>
            </a:prstGeom>
          </p:spPr>
          <p:txBody>
            <a:bodyPr anchor="ctr" rtlCol="false" tIns="50800" lIns="50800" bIns="50800" rIns="50800"/>
            <a:lstStyle/>
            <a:p>
              <a:pPr algn="ctr">
                <a:lnSpc>
                  <a:spcPts val="2871"/>
                </a:lnSpc>
              </a:pPr>
            </a:p>
          </p:txBody>
        </p:sp>
      </p:grpSp>
      <p:grpSp>
        <p:nvGrpSpPr>
          <p:cNvPr name="Group 5" id="5"/>
          <p:cNvGrpSpPr/>
          <p:nvPr/>
        </p:nvGrpSpPr>
        <p:grpSpPr>
          <a:xfrm rot="0">
            <a:off x="-395952" y="2577760"/>
            <a:ext cx="7361429" cy="5623288"/>
            <a:chOff x="0" y="0"/>
            <a:chExt cx="1140478" cy="871194"/>
          </a:xfrm>
        </p:grpSpPr>
        <p:sp>
          <p:nvSpPr>
            <p:cNvPr name="Freeform 6" id="6"/>
            <p:cNvSpPr/>
            <p:nvPr/>
          </p:nvSpPr>
          <p:spPr>
            <a:xfrm flipH="false" flipV="false" rot="0">
              <a:off x="0" y="0"/>
              <a:ext cx="1140478" cy="871194"/>
            </a:xfrm>
            <a:custGeom>
              <a:avLst/>
              <a:gdLst/>
              <a:ahLst/>
              <a:cxnLst/>
              <a:rect r="r" b="b" t="t" l="l"/>
              <a:pathLst>
                <a:path h="871194" w="1140478">
                  <a:moveTo>
                    <a:pt x="0" y="0"/>
                  </a:moveTo>
                  <a:lnTo>
                    <a:pt x="1140478" y="0"/>
                  </a:lnTo>
                  <a:lnTo>
                    <a:pt x="1140478" y="871194"/>
                  </a:lnTo>
                  <a:lnTo>
                    <a:pt x="0" y="871194"/>
                  </a:lnTo>
                  <a:close/>
                </a:path>
              </a:pathLst>
            </a:custGeom>
            <a:blipFill>
              <a:blip r:embed="rId2"/>
              <a:stretch>
                <a:fillRect l="-17900" t="0" r="-17900" b="0"/>
              </a:stretch>
            </a:blipFill>
          </p:spPr>
        </p:sp>
      </p:grpSp>
      <p:sp>
        <p:nvSpPr>
          <p:cNvPr name="AutoShape 7" id="7"/>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Freeform 8" id="8"/>
          <p:cNvSpPr/>
          <p:nvPr/>
        </p:nvSpPr>
        <p:spPr>
          <a:xfrm flipH="false" flipV="false" rot="-3185288">
            <a:off x="15595742" y="262509"/>
            <a:ext cx="4630504" cy="4630504"/>
          </a:xfrm>
          <a:custGeom>
            <a:avLst/>
            <a:gdLst/>
            <a:ahLst/>
            <a:cxnLst/>
            <a:rect r="r" b="b" t="t" l="l"/>
            <a:pathLst>
              <a:path h="4630504" w="4630504">
                <a:moveTo>
                  <a:pt x="0" y="0"/>
                </a:moveTo>
                <a:lnTo>
                  <a:pt x="4630504" y="0"/>
                </a:lnTo>
                <a:lnTo>
                  <a:pt x="4630504" y="4630503"/>
                </a:lnTo>
                <a:lnTo>
                  <a:pt x="0" y="4630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8009646" y="2558819"/>
            <a:ext cx="9412298" cy="5289804"/>
          </a:xfrm>
          <a:prstGeom prst="rect">
            <a:avLst/>
          </a:prstGeom>
        </p:spPr>
        <p:txBody>
          <a:bodyPr anchor="t" rtlCol="false" tIns="0" lIns="0" bIns="0" rIns="0">
            <a:spAutoFit/>
          </a:bodyPr>
          <a:lstStyle/>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The paper proposes a domain adaptation-based approach using LSTM autoencoders.</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This method works by training an anomaly detection classifier on a source domain.</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The model is then fine-tuned with a small set of nominal instances from the target domain.</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The MZVAV-2 dataset, used for HVAC systems, contains both normal and faulty data.</a:t>
            </a: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The approach reduces the need for large labeled datasets and improves accuracy in anomaly detection.</a:t>
            </a:r>
          </a:p>
          <a:p>
            <a:pPr algn="just">
              <a:lnSpc>
                <a:spcPts val="2793"/>
              </a:lnSpc>
            </a:pPr>
          </a:p>
          <a:p>
            <a:pPr algn="just">
              <a:lnSpc>
                <a:spcPts val="2793"/>
              </a:lnSpc>
            </a:pPr>
          </a:p>
        </p:txBody>
      </p:sp>
      <p:sp>
        <p:nvSpPr>
          <p:cNvPr name="TextBox 10" id="10"/>
          <p:cNvSpPr txBox="true"/>
          <p:nvPr/>
        </p:nvSpPr>
        <p:spPr>
          <a:xfrm rot="0">
            <a:off x="281450" y="414947"/>
            <a:ext cx="18400580" cy="1749425"/>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Time-Series Few Shot Anomaly Detection for HVAC Systems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070">
                <a:alpha val="100000"/>
              </a:srgbClr>
            </a:gs>
            <a:gs pos="100000">
              <a:srgbClr val="00064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8182712">
            <a:off x="-1710092" y="-759868"/>
            <a:ext cx="10210559" cy="9690748"/>
          </a:xfrm>
          <a:custGeom>
            <a:avLst/>
            <a:gdLst/>
            <a:ahLst/>
            <a:cxnLst/>
            <a:rect r="r" b="b" t="t" l="l"/>
            <a:pathLst>
              <a:path h="9690748" w="10210559">
                <a:moveTo>
                  <a:pt x="0" y="0"/>
                </a:moveTo>
                <a:lnTo>
                  <a:pt x="10210558" y="0"/>
                </a:lnTo>
                <a:lnTo>
                  <a:pt x="10210558" y="9690749"/>
                </a:lnTo>
                <a:lnTo>
                  <a:pt x="0" y="9690749"/>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683" y="9272587"/>
            <a:ext cx="16230600" cy="19050"/>
          </a:xfrm>
          <a:prstGeom prst="line">
            <a:avLst/>
          </a:prstGeom>
          <a:ln cap="flat" w="19050">
            <a:solidFill>
              <a:srgbClr val="FFFFFF"/>
            </a:solidFill>
            <a:prstDash val="solid"/>
            <a:headEnd type="none" len="sm" w="sm"/>
            <a:tailEnd type="none" len="sm" w="sm"/>
          </a:ln>
        </p:spPr>
      </p:sp>
      <p:grpSp>
        <p:nvGrpSpPr>
          <p:cNvPr name="Group 4" id="4"/>
          <p:cNvGrpSpPr/>
          <p:nvPr/>
        </p:nvGrpSpPr>
        <p:grpSpPr>
          <a:xfrm rot="0">
            <a:off x="10194623" y="3045555"/>
            <a:ext cx="2985565" cy="4924127"/>
            <a:chOff x="0" y="0"/>
            <a:chExt cx="786322" cy="1296889"/>
          </a:xfrm>
        </p:grpSpPr>
        <p:sp>
          <p:nvSpPr>
            <p:cNvPr name="Freeform 5" id="5"/>
            <p:cNvSpPr/>
            <p:nvPr/>
          </p:nvSpPr>
          <p:spPr>
            <a:xfrm flipH="false" flipV="false" rot="0">
              <a:off x="0" y="0"/>
              <a:ext cx="786322" cy="1296889"/>
            </a:xfrm>
            <a:custGeom>
              <a:avLst/>
              <a:gdLst/>
              <a:ahLst/>
              <a:cxnLst/>
              <a:rect r="r" b="b" t="t" l="l"/>
              <a:pathLst>
                <a:path h="1296889" w="786322">
                  <a:moveTo>
                    <a:pt x="0" y="0"/>
                  </a:moveTo>
                  <a:lnTo>
                    <a:pt x="786322" y="0"/>
                  </a:lnTo>
                  <a:lnTo>
                    <a:pt x="786322" y="1296889"/>
                  </a:lnTo>
                  <a:lnTo>
                    <a:pt x="0" y="1296889"/>
                  </a:lnTo>
                  <a:close/>
                </a:path>
              </a:pathLst>
            </a:custGeom>
            <a:gradFill rotWithShape="true">
              <a:gsLst>
                <a:gs pos="0">
                  <a:srgbClr val="00E8FF">
                    <a:alpha val="100000"/>
                  </a:srgbClr>
                </a:gs>
                <a:gs pos="100000">
                  <a:srgbClr val="0076E4">
                    <a:alpha val="100000"/>
                  </a:srgbClr>
                </a:gs>
              </a:gsLst>
              <a:lin ang="5400000"/>
            </a:gradFill>
          </p:spPr>
        </p:sp>
        <p:sp>
          <p:nvSpPr>
            <p:cNvPr name="TextBox 6" id="6"/>
            <p:cNvSpPr txBox="true"/>
            <p:nvPr/>
          </p:nvSpPr>
          <p:spPr>
            <a:xfrm>
              <a:off x="0" y="-57150"/>
              <a:ext cx="786322" cy="1354039"/>
            </a:xfrm>
            <a:prstGeom prst="rect">
              <a:avLst/>
            </a:prstGeom>
          </p:spPr>
          <p:txBody>
            <a:bodyPr anchor="ctr" rtlCol="false" tIns="50800" lIns="50800" bIns="50800" rIns="50800"/>
            <a:lstStyle/>
            <a:p>
              <a:pPr algn="ctr">
                <a:lnSpc>
                  <a:spcPts val="2871"/>
                </a:lnSpc>
              </a:pPr>
            </a:p>
          </p:txBody>
        </p:sp>
      </p:grpSp>
      <p:grpSp>
        <p:nvGrpSpPr>
          <p:cNvPr name="Group 7" id="7"/>
          <p:cNvGrpSpPr/>
          <p:nvPr/>
        </p:nvGrpSpPr>
        <p:grpSpPr>
          <a:xfrm rot="0">
            <a:off x="10519472" y="2527793"/>
            <a:ext cx="4366808" cy="5441889"/>
            <a:chOff x="0" y="0"/>
            <a:chExt cx="676533" cy="843091"/>
          </a:xfrm>
        </p:grpSpPr>
        <p:sp>
          <p:nvSpPr>
            <p:cNvPr name="Freeform 8" id="8"/>
            <p:cNvSpPr/>
            <p:nvPr/>
          </p:nvSpPr>
          <p:spPr>
            <a:xfrm flipH="false" flipV="false" rot="0">
              <a:off x="0" y="0"/>
              <a:ext cx="676533" cy="843091"/>
            </a:xfrm>
            <a:custGeom>
              <a:avLst/>
              <a:gdLst/>
              <a:ahLst/>
              <a:cxnLst/>
              <a:rect r="r" b="b" t="t" l="l"/>
              <a:pathLst>
                <a:path h="843091" w="676533">
                  <a:moveTo>
                    <a:pt x="0" y="0"/>
                  </a:moveTo>
                  <a:lnTo>
                    <a:pt x="676533" y="0"/>
                  </a:lnTo>
                  <a:lnTo>
                    <a:pt x="676533" y="843091"/>
                  </a:lnTo>
                  <a:lnTo>
                    <a:pt x="0" y="843091"/>
                  </a:lnTo>
                  <a:close/>
                </a:path>
              </a:pathLst>
            </a:custGeom>
            <a:blipFill>
              <a:blip r:embed="rId4"/>
              <a:stretch>
                <a:fillRect l="-42999" t="0" r="-42999" b="0"/>
              </a:stretch>
            </a:blipFill>
          </p:spPr>
        </p:sp>
      </p:grpSp>
      <p:grpSp>
        <p:nvGrpSpPr>
          <p:cNvPr name="Group 9" id="9"/>
          <p:cNvGrpSpPr/>
          <p:nvPr/>
        </p:nvGrpSpPr>
        <p:grpSpPr>
          <a:xfrm rot="0">
            <a:off x="15219119" y="2527793"/>
            <a:ext cx="4366808" cy="5343557"/>
            <a:chOff x="0" y="0"/>
            <a:chExt cx="676533" cy="827857"/>
          </a:xfrm>
        </p:grpSpPr>
        <p:sp>
          <p:nvSpPr>
            <p:cNvPr name="Freeform 10" id="10"/>
            <p:cNvSpPr/>
            <p:nvPr/>
          </p:nvSpPr>
          <p:spPr>
            <a:xfrm flipH="false" flipV="false" rot="0">
              <a:off x="0" y="0"/>
              <a:ext cx="676533" cy="827857"/>
            </a:xfrm>
            <a:custGeom>
              <a:avLst/>
              <a:gdLst/>
              <a:ahLst/>
              <a:cxnLst/>
              <a:rect r="r" b="b" t="t" l="l"/>
              <a:pathLst>
                <a:path h="827857" w="676533">
                  <a:moveTo>
                    <a:pt x="0" y="0"/>
                  </a:moveTo>
                  <a:lnTo>
                    <a:pt x="676533" y="0"/>
                  </a:lnTo>
                  <a:lnTo>
                    <a:pt x="676533" y="827857"/>
                  </a:lnTo>
                  <a:lnTo>
                    <a:pt x="0" y="827857"/>
                  </a:lnTo>
                  <a:close/>
                </a:path>
              </a:pathLst>
            </a:custGeom>
            <a:blipFill>
              <a:blip r:embed="rId5"/>
              <a:stretch>
                <a:fillRect l="-58771" t="0" r="-58771" b="0"/>
              </a:stretch>
            </a:blipFill>
          </p:spPr>
        </p:sp>
      </p:grpSp>
      <p:sp>
        <p:nvSpPr>
          <p:cNvPr name="Freeform 11" id="11"/>
          <p:cNvSpPr/>
          <p:nvPr/>
        </p:nvSpPr>
        <p:spPr>
          <a:xfrm flipH="false" flipV="false" rot="-10800000">
            <a:off x="-2600533" y="2084602"/>
            <a:ext cx="4001809" cy="4001809"/>
          </a:xfrm>
          <a:custGeom>
            <a:avLst/>
            <a:gdLst/>
            <a:ahLst/>
            <a:cxnLst/>
            <a:rect r="r" b="b" t="t" l="l"/>
            <a:pathLst>
              <a:path h="4001809" w="4001809">
                <a:moveTo>
                  <a:pt x="0" y="0"/>
                </a:moveTo>
                <a:lnTo>
                  <a:pt x="4001810" y="0"/>
                </a:lnTo>
                <a:lnTo>
                  <a:pt x="4001810" y="4001809"/>
                </a:lnTo>
                <a:lnTo>
                  <a:pt x="0" y="4001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09256" y="2895084"/>
            <a:ext cx="9451992" cy="5289804"/>
          </a:xfrm>
          <a:prstGeom prst="rect">
            <a:avLst/>
          </a:prstGeom>
        </p:spPr>
        <p:txBody>
          <a:bodyPr anchor="t" rtlCol="false" tIns="0" lIns="0" bIns="0" rIns="0">
            <a:spAutoFit/>
          </a:bodyPr>
          <a:lstStyle/>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TAMA is a framework that uses large multimodal models (LMMs) for anomaly detection.</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It transforms time series data into images, making it easier for LMMs to analyze.</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The framework incorporates a three-step process: Reference Learning, Analyzing, and Self-reflection.</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TAMA outperforms traditional methods, especially on real-world datasets like UCR and NASA-SMAP.</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The method improves both the accuracy of anomaly detection and the interpretability of the results.</a:t>
            </a:r>
          </a:p>
          <a:p>
            <a:pPr algn="just">
              <a:lnSpc>
                <a:spcPts val="2793"/>
              </a:lnSpc>
            </a:pPr>
          </a:p>
        </p:txBody>
      </p:sp>
      <p:sp>
        <p:nvSpPr>
          <p:cNvPr name="TextBox 13" id="13"/>
          <p:cNvSpPr txBox="true"/>
          <p:nvPr/>
        </p:nvSpPr>
        <p:spPr>
          <a:xfrm rot="0">
            <a:off x="-450320" y="-133350"/>
            <a:ext cx="17709620" cy="2533492"/>
          </a:xfrm>
          <a:prstGeom prst="rect">
            <a:avLst/>
          </a:prstGeom>
        </p:spPr>
        <p:txBody>
          <a:bodyPr anchor="t" rtlCol="false" tIns="0" lIns="0" bIns="0" rIns="0">
            <a:spAutoFit/>
          </a:bodyPr>
          <a:lstStyle/>
          <a:p>
            <a:pPr algn="ctr">
              <a:lnSpc>
                <a:spcPts val="10223"/>
              </a:lnSpc>
            </a:pPr>
            <a:r>
              <a:rPr lang="en-US" sz="7302" b="true">
                <a:solidFill>
                  <a:srgbClr val="FFFFFF"/>
                </a:solidFill>
                <a:latin typeface="Canva Sans Bold"/>
                <a:ea typeface="Canva Sans Bold"/>
                <a:cs typeface="Canva Sans Bold"/>
                <a:sym typeface="Canva Sans Bold"/>
              </a:rPr>
              <a:t>T</a:t>
            </a:r>
            <a:r>
              <a:rPr lang="en-US" b="true" sz="7302">
                <a:solidFill>
                  <a:srgbClr val="FFFFFF"/>
                </a:solidFill>
                <a:latin typeface="Canva Sans Bold"/>
                <a:ea typeface="Canva Sans Bold"/>
                <a:cs typeface="Canva Sans Bold"/>
                <a:sym typeface="Canva Sans Bold"/>
              </a:rPr>
              <a:t>AMA: Time-Series Anomaly Multimodal Analyzer: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070">
                <a:alpha val="100000"/>
              </a:srgbClr>
            </a:gs>
            <a:gs pos="100000">
              <a:srgbClr val="00064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Freeform 3" id="3"/>
          <p:cNvSpPr/>
          <p:nvPr/>
        </p:nvSpPr>
        <p:spPr>
          <a:xfrm flipH="false" flipV="false" rot="0">
            <a:off x="685939" y="2778747"/>
            <a:ext cx="6638939" cy="5262868"/>
          </a:xfrm>
          <a:custGeom>
            <a:avLst/>
            <a:gdLst/>
            <a:ahLst/>
            <a:cxnLst/>
            <a:rect r="r" b="b" t="t" l="l"/>
            <a:pathLst>
              <a:path h="5262868" w="6638939">
                <a:moveTo>
                  <a:pt x="0" y="0"/>
                </a:moveTo>
                <a:lnTo>
                  <a:pt x="6638939" y="0"/>
                </a:lnTo>
                <a:lnTo>
                  <a:pt x="6638939" y="5262868"/>
                </a:lnTo>
                <a:lnTo>
                  <a:pt x="0" y="5262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075856" y="3551927"/>
            <a:ext cx="10183444" cy="5289804"/>
          </a:xfrm>
          <a:prstGeom prst="rect">
            <a:avLst/>
          </a:prstGeom>
        </p:spPr>
        <p:txBody>
          <a:bodyPr anchor="t" rtlCol="false" tIns="0" lIns="0" bIns="0" rIns="0">
            <a:spAutoFit/>
          </a:bodyPr>
          <a:lstStyle/>
          <a:p>
            <a:pPr algn="just" marL="453390" indent="-226695" lvl="1">
              <a:lnSpc>
                <a:spcPts val="2793"/>
              </a:lnSpc>
              <a:buFont typeface="Arial"/>
              <a:buChar char="•"/>
            </a:pPr>
            <a:r>
              <a:rPr lang="en-US" sz="2100" spc="-58">
                <a:solidFill>
                  <a:srgbClr val="FFFFFF"/>
                </a:solidFill>
                <a:latin typeface="Poppins"/>
                <a:ea typeface="Poppins"/>
                <a:cs typeface="Poppins"/>
                <a:sym typeface="Poppins"/>
              </a:rPr>
              <a:t>FastRecon uses a few-shot anomaly detection approach based on feature reconstruction.</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The model reconstructs normal data from a small set of reference samples and compares it to the query sample.</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This method is evaluated on industrial datasets like MVTec AD and MPDD.</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FastRecon performs well even with 2-shot, 4-shot, and 8-shot settings, which are typical in real-world applications.</a:t>
            </a:r>
          </a:p>
          <a:p>
            <a:pPr algn="just">
              <a:lnSpc>
                <a:spcPts val="2793"/>
              </a:lnSpc>
            </a:pPr>
          </a:p>
          <a:p>
            <a:pPr algn="just" marL="453390" indent="-226695" lvl="1">
              <a:lnSpc>
                <a:spcPts val="2793"/>
              </a:lnSpc>
              <a:buFont typeface="Arial"/>
              <a:buChar char="•"/>
            </a:pPr>
            <a:r>
              <a:rPr lang="en-US" sz="2100" spc="-58">
                <a:solidFill>
                  <a:srgbClr val="FFFFFF"/>
                </a:solidFill>
                <a:latin typeface="Poppins"/>
                <a:ea typeface="Poppins"/>
                <a:cs typeface="Poppins"/>
                <a:sym typeface="Poppins"/>
              </a:rPr>
              <a:t>It outperforms other methods like GANomaly and PatchCore in both image-level and pixel-level anomaly detection.</a:t>
            </a:r>
          </a:p>
          <a:p>
            <a:pPr algn="just">
              <a:lnSpc>
                <a:spcPts val="2793"/>
              </a:lnSpc>
            </a:pPr>
          </a:p>
          <a:p>
            <a:pPr algn="just">
              <a:lnSpc>
                <a:spcPts val="2793"/>
              </a:lnSpc>
            </a:pPr>
          </a:p>
        </p:txBody>
      </p:sp>
      <p:sp>
        <p:nvSpPr>
          <p:cNvPr name="Freeform 5" id="5"/>
          <p:cNvSpPr/>
          <p:nvPr/>
        </p:nvSpPr>
        <p:spPr>
          <a:xfrm flipH="false" flipV="false" rot="0">
            <a:off x="-3306817" y="1295381"/>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432782" y="4544162"/>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4435" y="-256846"/>
            <a:ext cx="18527233" cy="3143248"/>
          </a:xfrm>
          <a:prstGeom prst="rect">
            <a:avLst/>
          </a:prstGeom>
        </p:spPr>
        <p:txBody>
          <a:bodyPr anchor="t" rtlCol="false" tIns="0" lIns="0" bIns="0" rIns="0">
            <a:spAutoFit/>
          </a:bodyPr>
          <a:lstStyle/>
          <a:p>
            <a:pPr algn="ctr">
              <a:lnSpc>
                <a:spcPts val="12600"/>
              </a:lnSpc>
            </a:pPr>
            <a:r>
              <a:rPr lang="en-US" sz="9000" b="true">
                <a:solidFill>
                  <a:srgbClr val="FFFFFF"/>
                </a:solidFill>
                <a:latin typeface="Canva Sans Bold"/>
                <a:ea typeface="Canva Sans Bold"/>
                <a:cs typeface="Canva Sans Bold"/>
                <a:sym typeface="Canva Sans Bold"/>
              </a:rPr>
              <a:t>FastRecon: Few-shot In</a:t>
            </a:r>
            <a:r>
              <a:rPr lang="en-US" b="true" sz="9000">
                <a:solidFill>
                  <a:srgbClr val="FFFFFF"/>
                </a:solidFill>
                <a:latin typeface="Canva Sans Bold"/>
                <a:ea typeface="Canva Sans Bold"/>
                <a:cs typeface="Canva Sans Bold"/>
                <a:sym typeface="Canva Sans Bold"/>
              </a:rPr>
              <a:t>dustrial Anomaly Detection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20070">
                    <a:alpha val="24000"/>
                  </a:srgbClr>
                </a:gs>
                <a:gs pos="100000">
                  <a:srgbClr val="000640">
                    <a:alpha val="24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a:p>
              <a:pPr algn="ctr">
                <a:lnSpc>
                  <a:spcPts val="2659"/>
                </a:lnSpc>
                <a:spcBef>
                  <a:spcPct val="0"/>
                </a:spcBef>
              </a:pPr>
            </a:p>
          </p:txBody>
        </p:sp>
      </p:grpSp>
      <p:sp>
        <p:nvSpPr>
          <p:cNvPr name="TextBox 6" id="6"/>
          <p:cNvSpPr txBox="true"/>
          <p:nvPr/>
        </p:nvSpPr>
        <p:spPr>
          <a:xfrm rot="0">
            <a:off x="3405548" y="2044753"/>
            <a:ext cx="14319551" cy="658114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MOS</a:t>
            </a:r>
            <a:r>
              <a:rPr lang="en-US" sz="3399">
                <a:solidFill>
                  <a:srgbClr val="FFFFFF"/>
                </a:solidFill>
                <a:latin typeface="Canva Sans"/>
                <a:ea typeface="Canva Sans"/>
                <a:cs typeface="Canva Sans"/>
                <a:sym typeface="Canva Sans"/>
              </a:rPr>
              <a:t>AD is designed for open-set time-series anomaly detection, where only a few labeled anomalies are provided during training.</a:t>
            </a:r>
          </a:p>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The model uses a multi-head network consisting of generative, discriminative, and contrastive heads.</a:t>
            </a:r>
          </a:p>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It is capable of detecting both seen and unseen anomalies, making it more adaptable.</a:t>
            </a:r>
          </a:p>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The method is evaluated on several real-world datasets, including server data and biomedical data.</a:t>
            </a:r>
          </a:p>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MOSAD outperforms traditional methods in both unsupervised and supervised settings, providing superior performance.</a:t>
            </a:r>
          </a:p>
          <a:p>
            <a:pPr algn="ctr">
              <a:lnSpc>
                <a:spcPts val="4759"/>
              </a:lnSpc>
            </a:pPr>
          </a:p>
        </p:txBody>
      </p:sp>
      <p:sp>
        <p:nvSpPr>
          <p:cNvPr name="TextBox 7" id="7"/>
          <p:cNvSpPr txBox="true"/>
          <p:nvPr/>
        </p:nvSpPr>
        <p:spPr>
          <a:xfrm rot="0">
            <a:off x="0" y="-114300"/>
            <a:ext cx="18288000" cy="962647"/>
          </a:xfrm>
          <a:prstGeom prst="rect">
            <a:avLst/>
          </a:prstGeom>
        </p:spPr>
        <p:txBody>
          <a:bodyPr anchor="t" rtlCol="false" tIns="0" lIns="0" bIns="0" rIns="0">
            <a:spAutoFit/>
          </a:bodyPr>
          <a:lstStyle/>
          <a:p>
            <a:pPr algn="ctr">
              <a:lnSpc>
                <a:spcPts val="7840"/>
              </a:lnSpc>
            </a:pPr>
            <a:r>
              <a:rPr lang="en-US" sz="5600" b="true">
                <a:solidFill>
                  <a:srgbClr val="FFFFFF"/>
                </a:solidFill>
                <a:latin typeface="Canva Sans Bold"/>
                <a:ea typeface="Canva Sans Bold"/>
                <a:cs typeface="Canva Sans Bold"/>
                <a:sym typeface="Canva Sans Bold"/>
              </a:rPr>
              <a:t>Open-Set</a:t>
            </a:r>
            <a:r>
              <a:rPr lang="en-US" b="true" sz="5600">
                <a:solidFill>
                  <a:srgbClr val="FFFFFF"/>
                </a:solidFill>
                <a:latin typeface="Canva Sans Bold"/>
                <a:ea typeface="Canva Sans Bold"/>
                <a:cs typeface="Canva Sans Bold"/>
                <a:sym typeface="Canva Sans Bold"/>
              </a:rPr>
              <a:t> Time-Series Anomaly Detection (MOSAD)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20070">
                    <a:alpha val="24000"/>
                  </a:srgbClr>
                </a:gs>
                <a:gs pos="100000">
                  <a:srgbClr val="000640">
                    <a:alpha val="24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a:p>
              <a:pPr algn="ctr">
                <a:lnSpc>
                  <a:spcPts val="2659"/>
                </a:lnSpc>
                <a:spcBef>
                  <a:spcPct val="0"/>
                </a:spcBef>
              </a:pPr>
            </a:p>
          </p:txBody>
        </p:sp>
      </p:grpSp>
      <p:sp>
        <p:nvSpPr>
          <p:cNvPr name="TextBox 6" id="6"/>
          <p:cNvSpPr txBox="true"/>
          <p:nvPr/>
        </p:nvSpPr>
        <p:spPr>
          <a:xfrm rot="0">
            <a:off x="3715143" y="2144116"/>
            <a:ext cx="13981811" cy="658114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Few-shot anomaly detection techniques offer significant advantages when data is scarce.</a:t>
            </a:r>
          </a:p>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Methods like FewSOME, FastRecon, and MOSAD provide robust solutions for time-series anomaly detection.</a:t>
            </a:r>
          </a:p>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The field is evolving with more advanced methods incorporating multimodal models and domain adaptation.</a:t>
            </a:r>
          </a:p>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Future research should focus on improving model scalability and interpretability.</a:t>
            </a:r>
          </a:p>
          <a:p>
            <a:pPr algn="ctr" marL="734059" indent="-367030" lvl="1">
              <a:lnSpc>
                <a:spcPts val="4759"/>
              </a:lnSpc>
              <a:buFont typeface="Arial"/>
              <a:buChar char="•"/>
            </a:pPr>
            <a:r>
              <a:rPr lang="en-US" sz="3399">
                <a:solidFill>
                  <a:srgbClr val="FFFFFF"/>
                </a:solidFill>
                <a:latin typeface="Canva Sans"/>
                <a:ea typeface="Canva Sans"/>
                <a:cs typeface="Canva Sans"/>
                <a:sym typeface="Canva Sans"/>
              </a:rPr>
              <a:t>As anomaly detection becomes more critical across industries, these methods will play a vital role in real-world applications.</a:t>
            </a:r>
          </a:p>
          <a:p>
            <a:pPr algn="ctr">
              <a:lnSpc>
                <a:spcPts val="4759"/>
              </a:lnSpc>
            </a:pPr>
          </a:p>
        </p:txBody>
      </p:sp>
      <p:sp>
        <p:nvSpPr>
          <p:cNvPr name="TextBox 7" id="7"/>
          <p:cNvSpPr txBox="true"/>
          <p:nvPr/>
        </p:nvSpPr>
        <p:spPr>
          <a:xfrm rot="0">
            <a:off x="0" y="-114300"/>
            <a:ext cx="18288000" cy="962647"/>
          </a:xfrm>
          <a:prstGeom prst="rect">
            <a:avLst/>
          </a:prstGeom>
        </p:spPr>
        <p:txBody>
          <a:bodyPr anchor="t" rtlCol="false" tIns="0" lIns="0" bIns="0" rIns="0">
            <a:spAutoFit/>
          </a:bodyPr>
          <a:lstStyle/>
          <a:p>
            <a:pPr algn="ctr">
              <a:lnSpc>
                <a:spcPts val="7840"/>
              </a:lnSpc>
            </a:pPr>
            <a:r>
              <a:rPr lang="en-US" sz="5600" b="true">
                <a:solidFill>
                  <a:srgbClr val="FFFFFF"/>
                </a:solidFill>
                <a:latin typeface="Canva Sans Bold"/>
                <a:ea typeface="Canva Sans Bold"/>
                <a:cs typeface="Canva Sans Bold"/>
                <a:sym typeface="Canva Sans Bold"/>
              </a:rPr>
              <a:t>Co</a:t>
            </a:r>
            <a:r>
              <a:rPr lang="en-US" sz="5600" b="true">
                <a:solidFill>
                  <a:srgbClr val="FFFFFF"/>
                </a:solidFill>
                <a:latin typeface="Canva Sans Bold"/>
                <a:ea typeface="Canva Sans Bold"/>
                <a:cs typeface="Canva Sans Bold"/>
                <a:sym typeface="Canva Sans Bold"/>
              </a:rPr>
              <a:t>nclu</a:t>
            </a:r>
            <a:r>
              <a:rPr lang="en-US" b="true" sz="5600">
                <a:solidFill>
                  <a:srgbClr val="FFFFFF"/>
                </a:solidFill>
                <a:latin typeface="Canva Sans Bold"/>
                <a:ea typeface="Canva Sans Bold"/>
                <a:cs typeface="Canva Sans Bold"/>
                <a:sym typeface="Canva Sans Bold"/>
              </a:rPr>
              <a:t>sion and Future Directions: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20070">
                    <a:alpha val="24000"/>
                  </a:srgbClr>
                </a:gs>
                <a:gs pos="100000">
                  <a:srgbClr val="000640">
                    <a:alpha val="24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a:p>
              <a:pPr algn="ctr">
                <a:lnSpc>
                  <a:spcPts val="2659"/>
                </a:lnSpc>
                <a:spcBef>
                  <a:spcPct val="0"/>
                </a:spcBef>
              </a:pPr>
            </a:p>
          </p:txBody>
        </p:sp>
      </p:grpSp>
      <p:sp>
        <p:nvSpPr>
          <p:cNvPr name="TextBox 6" id="6"/>
          <p:cNvSpPr txBox="true"/>
          <p:nvPr/>
        </p:nvSpPr>
        <p:spPr>
          <a:xfrm rot="0">
            <a:off x="2104405" y="3203404"/>
            <a:ext cx="14079189" cy="1045885"/>
          </a:xfrm>
          <a:prstGeom prst="rect">
            <a:avLst/>
          </a:prstGeom>
        </p:spPr>
        <p:txBody>
          <a:bodyPr anchor="t" rtlCol="false" tIns="0" lIns="0" bIns="0" rIns="0">
            <a:spAutoFit/>
          </a:bodyPr>
          <a:lstStyle/>
          <a:p>
            <a:pPr algn="ctr">
              <a:lnSpc>
                <a:spcPts val="7665"/>
              </a:lnSpc>
            </a:pPr>
            <a:r>
              <a:rPr lang="en-US" sz="8242">
                <a:solidFill>
                  <a:srgbClr val="00FFFF"/>
                </a:solidFill>
                <a:latin typeface="Zen Dots"/>
                <a:ea typeface="Zen Dots"/>
                <a:cs typeface="Zen Dots"/>
                <a:sym typeface="Zen Dot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DAG5uP98Myo</dc:identifier>
  <dcterms:modified xsi:type="dcterms:W3CDTF">2011-08-01T06:04:30Z</dcterms:modified>
  <cp:revision>1</cp:revision>
  <dc:title>Blue Modern Data Analysis Presentation</dc:title>
</cp:coreProperties>
</file>