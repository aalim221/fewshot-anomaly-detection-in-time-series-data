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" charset="1" panose="000005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  <p:embeddedFont>
      <p:font typeface="Times New Roman MT" charset="1" panose="02030502070405020303"/>
      <p:regular r:id="rId24"/>
    </p:embeddedFont>
    <p:embeddedFont>
      <p:font typeface="Lora" charset="1" panose="00000500000000000000"/>
      <p:regular r:id="rId25"/>
    </p:embeddedFont>
    <p:embeddedFont>
      <p:font typeface="Quicksand" charset="1" panose="00000000000000000000"/>
      <p:regular r:id="rId26"/>
    </p:embeddedFont>
    <p:embeddedFont>
      <p:font typeface="Noto Serif Ethiopic Condensed" charset="1" panose="02020502060505020204"/>
      <p:regular r:id="rId27"/>
    </p:embeddedFont>
    <p:embeddedFont>
      <p:font typeface="Cooper BT Bold" charset="1" panose="0208080404030B020404"/>
      <p:regular r:id="rId28"/>
    </p:embeddedFont>
    <p:embeddedFont>
      <p:font typeface="Bricolage Grotesque" charset="1" panose="020B0605040402000204"/>
      <p:regular r:id="rId29"/>
    </p:embeddedFont>
    <p:embeddedFont>
      <p:font typeface="Poppins Bold" charset="1" panose="00000800000000000000"/>
      <p:regular r:id="rId30"/>
    </p:embeddedFont>
    <p:embeddedFont>
      <p:font typeface="Zen Dots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96" t="0" r="-14096" b="-518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91179"/>
            <a:ext cx="17259300" cy="2000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3"/>
              </a:lnSpc>
            </a:pPr>
            <a:r>
              <a:rPr lang="en-US" sz="57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Few-shot Anomaly Detection</a:t>
            </a:r>
          </a:p>
          <a:p>
            <a:pPr algn="ctr">
              <a:lnSpc>
                <a:spcPts val="8003"/>
              </a:lnSpc>
            </a:pPr>
            <a:r>
              <a:rPr lang="en-US" sz="57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Time Series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85784" y="2642136"/>
            <a:ext cx="5120577" cy="7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8"/>
              </a:lnSpc>
            </a:pPr>
            <a:r>
              <a:rPr lang="en-US" sz="41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1.Abdul Alim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9110" y="3273953"/>
            <a:ext cx="4285381" cy="7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8"/>
              </a:lnSpc>
            </a:pPr>
            <a:r>
              <a:rPr lang="en-US" sz="41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2.Farea Mahdea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86287" y="3905769"/>
            <a:ext cx="6294286" cy="7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8"/>
              </a:lnSpc>
            </a:pPr>
            <a:r>
              <a:rPr lang="en-US" sz="41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3.Anik Barua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59016" y="5913275"/>
            <a:ext cx="18288000" cy="10287000"/>
            <a:chOff x="0" y="0"/>
            <a:chExt cx="481659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78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78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83166" y="3153587"/>
            <a:ext cx="15700546" cy="511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9"/>
              </a:lnSpc>
            </a:pPr>
            <a:r>
              <a:rPr lang="en-US" sz="2323" spc="-6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</a:t>
            </a:r>
            <a:r>
              <a:rPr lang="en-US" sz="2323" spc="-6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nomaly Detection Few-Shot in Time Series Data project is about finding unusual patterns in data that is collected over time, like stock prices, sensor readings, or website traffic. "Few-shot" means the system doesn't need a lot of examples to learn what's normal; it can identify unusual events even with just a few examples of normal behavior.</a:t>
            </a:r>
          </a:p>
          <a:p>
            <a:pPr algn="just">
              <a:lnSpc>
                <a:spcPts val="3089"/>
              </a:lnSpc>
            </a:pPr>
            <a:r>
              <a:rPr lang="en-US" sz="2323" spc="-6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Here's what the project does:</a:t>
            </a:r>
          </a:p>
          <a:p>
            <a:pPr algn="just" marL="501590" indent="-250795" lvl="1">
              <a:lnSpc>
                <a:spcPts val="3089"/>
              </a:lnSpc>
              <a:buFont typeface="Arial"/>
              <a:buChar char="•"/>
            </a:pPr>
            <a:r>
              <a:rPr lang="en-US" sz="2323" spc="-6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Anomaly Detection: It helps spot when something unusual happens in data that usually behaves in a predictable way. For example, if you're tracking the temperature of a machine, an anomaly could be a sudden rise or fall in temperature.</a:t>
            </a:r>
          </a:p>
          <a:p>
            <a:pPr algn="just" marL="501590" indent="-250795" lvl="1">
              <a:lnSpc>
                <a:spcPts val="3089"/>
              </a:lnSpc>
              <a:buFont typeface="Arial"/>
              <a:buChar char="•"/>
            </a:pPr>
            <a:r>
              <a:rPr lang="en-US" sz="2323" spc="-6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Few-Shot Learning: Instead of needing tons of data, the system can learn from just a few examples of what normal data looks like and still detect when something is wrong.</a:t>
            </a:r>
          </a:p>
          <a:p>
            <a:pPr algn="just" marL="501590" indent="-250795" lvl="1">
              <a:lnSpc>
                <a:spcPts val="3089"/>
              </a:lnSpc>
              <a:buFont typeface="Arial"/>
              <a:buChar char="•"/>
            </a:pPr>
            <a:r>
              <a:rPr lang="en-US" sz="2323" spc="-6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Time Series Data: This is data collected over time, like stock prices, heart rate readings, or daily website visits.</a:t>
            </a: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46438" y="1659131"/>
            <a:ext cx="181105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Intro</a:t>
            </a:r>
            <a:r>
              <a:rPr lang="en-US" sz="51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duction to Few-Shot Anomaly Detection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83166" y="3153587"/>
            <a:ext cx="15700546" cy="524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6"/>
              </a:lnSpc>
            </a:pP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 it's i</a:t>
            </a: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mportant:</a:t>
            </a:r>
          </a:p>
          <a:p>
            <a:pPr algn="just" marL="480001" indent="-240000" lvl="1">
              <a:lnSpc>
                <a:spcPts val="2956"/>
              </a:lnSpc>
              <a:buFont typeface="Arial"/>
              <a:buChar char="•"/>
            </a:pP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Detecting Problems Early: Anomalies could indicate problems like equipment failure, fraud, or security breaches. Identifying these problems early can save time, money, and prevent larger issues.</a:t>
            </a:r>
          </a:p>
          <a:p>
            <a:pPr algn="just" marL="480001" indent="-240000" lvl="1">
              <a:lnSpc>
                <a:spcPts val="2956"/>
              </a:lnSpc>
              <a:buFont typeface="Arial"/>
              <a:buChar char="•"/>
            </a:pP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Limited Data: In many real-world situations, you may not have a lot of data to work with, especially for rare problems (like a rare machine breakdown). Few-shot learning helps address this by detecting anomalies without needing large amounts of data.</a:t>
            </a:r>
          </a:p>
          <a:p>
            <a:pPr algn="just" marL="480001" indent="-240000" lvl="1">
              <a:lnSpc>
                <a:spcPts val="2956"/>
              </a:lnSpc>
              <a:buFont typeface="Arial"/>
              <a:buChar char="•"/>
            </a:pP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Automation: This can help automate monitoring systems, making them smarter and faster at identifying issues without needing constant human supervision.</a:t>
            </a:r>
          </a:p>
          <a:p>
            <a:pPr algn="just">
              <a:lnSpc>
                <a:spcPts val="2956"/>
              </a:lnSpc>
            </a:pP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 it's needed:</a:t>
            </a:r>
          </a:p>
          <a:p>
            <a:pPr algn="just" marL="480001" indent="-240000" lvl="1">
              <a:lnSpc>
                <a:spcPts val="2956"/>
              </a:lnSpc>
              <a:buFont typeface="Arial"/>
              <a:buChar char="•"/>
            </a:pP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Efficiency: Monitoring systems that can detect issues without a lot of training data can save resources, time, and effort.</a:t>
            </a:r>
          </a:p>
          <a:p>
            <a:pPr algn="just" marL="480001" indent="-240000" lvl="1">
              <a:lnSpc>
                <a:spcPts val="2956"/>
              </a:lnSpc>
              <a:buFont typeface="Arial"/>
              <a:buChar char="•"/>
            </a:pP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Adaptability: Many industries deal with unpredictable events (e.g., online fraud, unexpected machine failures). Having a system that adapts and identifies these problems with limited data can be crucial for staying ahead.</a:t>
            </a:r>
          </a:p>
          <a:p>
            <a:pPr algn="just">
              <a:lnSpc>
                <a:spcPts val="2956"/>
              </a:lnSpc>
            </a:pPr>
            <a:r>
              <a:rPr lang="en-US" sz="2223" spc="-6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short, this project is important because it helps create smarter systems that can identify problems in real-time without needing a huge amount of historical data. This makes it easier to detect and fix issues before they escalate.</a:t>
            </a:r>
          </a:p>
          <a:p>
            <a:pPr algn="just">
              <a:lnSpc>
                <a:spcPts val="295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46438" y="1659131"/>
            <a:ext cx="181105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Intro</a:t>
            </a:r>
            <a:r>
              <a:rPr lang="en-US" sz="51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duction to Few-Shot Anomaly Detection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529929" y="2933753"/>
            <a:ext cx="3086100" cy="5269946"/>
            <a:chOff x="0" y="0"/>
            <a:chExt cx="812800" cy="13879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387969"/>
            </a:xfrm>
            <a:custGeom>
              <a:avLst/>
              <a:gdLst/>
              <a:ahLst/>
              <a:cxnLst/>
              <a:rect r="r" b="b" t="t" l="l"/>
              <a:pathLst>
                <a:path h="138796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87969"/>
                  </a:lnTo>
                  <a:lnTo>
                    <a:pt x="0" y="1387969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1445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865716" y="2484866"/>
            <a:ext cx="6934340" cy="5718833"/>
            <a:chOff x="0" y="0"/>
            <a:chExt cx="1074311" cy="885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4311" cy="885997"/>
            </a:xfrm>
            <a:custGeom>
              <a:avLst/>
              <a:gdLst/>
              <a:ahLst/>
              <a:cxnLst/>
              <a:rect r="r" b="b" t="t" l="l"/>
              <a:pathLst>
                <a:path h="885997" w="1074311">
                  <a:moveTo>
                    <a:pt x="0" y="0"/>
                  </a:moveTo>
                  <a:lnTo>
                    <a:pt x="1074311" y="0"/>
                  </a:lnTo>
                  <a:lnTo>
                    <a:pt x="1074311" y="885997"/>
                  </a:lnTo>
                  <a:lnTo>
                    <a:pt x="0" y="885997"/>
                  </a:lnTo>
                  <a:close/>
                </a:path>
              </a:pathLst>
            </a:custGeom>
            <a:blipFill>
              <a:blip r:embed="rId2"/>
              <a:stretch>
                <a:fillRect l="-15976" t="0" r="-1597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3306817" y="1295381"/>
            <a:ext cx="4335517" cy="4114800"/>
          </a:xfrm>
          <a:custGeom>
            <a:avLst/>
            <a:gdLst/>
            <a:ahLst/>
            <a:cxnLst/>
            <a:rect r="r" b="b" t="t" l="l"/>
            <a:pathLst>
              <a:path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9364" y="2905178"/>
            <a:ext cx="11062117" cy="469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6133" indent="-233067" lvl="1">
              <a:lnSpc>
                <a:spcPts val="2871"/>
              </a:lnSpc>
              <a:buFont typeface="Arial"/>
              <a:buChar char="•"/>
            </a:pPr>
            <a:r>
              <a:rPr lang="en-US" sz="2159" spc="-6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Anomaly detection with limited data is a significant challenge in many domains.</a:t>
            </a:r>
          </a:p>
          <a:p>
            <a:pPr algn="just">
              <a:lnSpc>
                <a:spcPts val="2871"/>
              </a:lnSpc>
            </a:pPr>
          </a:p>
          <a:p>
            <a:pPr algn="just" marL="466133" indent="-233067" lvl="1">
              <a:lnSpc>
                <a:spcPts val="2871"/>
              </a:lnSpc>
              <a:buFont typeface="Arial"/>
              <a:buChar char="•"/>
            </a:pPr>
            <a:r>
              <a:rPr lang="en-US" sz="2159" spc="-6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 time series data, the anomalies are often rare, making them harder to identify.</a:t>
            </a:r>
          </a:p>
          <a:p>
            <a:pPr algn="just">
              <a:lnSpc>
                <a:spcPts val="2871"/>
              </a:lnSpc>
            </a:pPr>
          </a:p>
          <a:p>
            <a:pPr algn="just" marL="466133" indent="-233067" lvl="1">
              <a:lnSpc>
                <a:spcPts val="2871"/>
              </a:lnSpc>
              <a:buFont typeface="Arial"/>
              <a:buChar char="•"/>
            </a:pPr>
            <a:r>
              <a:rPr lang="en-US" sz="2159" spc="-6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Lack of labeled data and the high cost of manual labeling complicates the training process.</a:t>
            </a:r>
          </a:p>
          <a:p>
            <a:pPr algn="just">
              <a:lnSpc>
                <a:spcPts val="2871"/>
              </a:lnSpc>
            </a:pPr>
          </a:p>
          <a:p>
            <a:pPr algn="just" marL="466133" indent="-233067" lvl="1">
              <a:lnSpc>
                <a:spcPts val="2871"/>
              </a:lnSpc>
              <a:buFont typeface="Arial"/>
              <a:buChar char="•"/>
            </a:pPr>
            <a:r>
              <a:rPr lang="en-US" sz="2159" spc="-6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The complexity of time-series data, including seasonality and trends, adds to the difficulty.</a:t>
            </a:r>
          </a:p>
          <a:p>
            <a:pPr algn="just">
              <a:lnSpc>
                <a:spcPts val="2871"/>
              </a:lnSpc>
            </a:pPr>
          </a:p>
          <a:p>
            <a:pPr algn="just" marL="466133" indent="-233067" lvl="1">
              <a:lnSpc>
                <a:spcPts val="2871"/>
              </a:lnSpc>
              <a:buFont typeface="Arial"/>
              <a:buChar char="•"/>
            </a:pPr>
            <a:r>
              <a:rPr lang="en-US" sz="2159" spc="-6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Traditional methods require large datasets, which may not always be available in practical scenarios.</a:t>
            </a:r>
          </a:p>
          <a:p>
            <a:pPr algn="just">
              <a:lnSpc>
                <a:spcPts val="28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945042" y="789266"/>
            <a:ext cx="9446963" cy="6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1"/>
              </a:lnSpc>
            </a:pPr>
            <a:r>
              <a:rPr lang="en-US" sz="3744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Challenges in </a:t>
            </a:r>
            <a:r>
              <a:rPr lang="en-US" sz="3744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Anomaly Detection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3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968034" y="2739923"/>
            <a:ext cx="7185928" cy="3674307"/>
          </a:xfrm>
          <a:custGeom>
            <a:avLst/>
            <a:gdLst/>
            <a:ahLst/>
            <a:cxnLst/>
            <a:rect r="r" b="b" t="t" l="l"/>
            <a:pathLst>
              <a:path h="3674307" w="7185928">
                <a:moveTo>
                  <a:pt x="0" y="0"/>
                </a:moveTo>
                <a:lnTo>
                  <a:pt x="7185928" y="0"/>
                </a:lnTo>
                <a:lnTo>
                  <a:pt x="7185928" y="3674308"/>
                </a:lnTo>
                <a:lnTo>
                  <a:pt x="0" y="3674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165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185692"/>
            <a:ext cx="10826265" cy="556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010" indent="-241005" lvl="1">
              <a:lnSpc>
                <a:spcPts val="2969"/>
              </a:lnSpc>
              <a:buFont typeface="Arial"/>
              <a:buChar char="•"/>
            </a:pPr>
            <a:r>
              <a:rPr lang="en-US" sz="2232" spc="-62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FewSOME is a method based on Siamese networks for detecting anomalies with few samples.</a:t>
            </a:r>
          </a:p>
          <a:p>
            <a:pPr algn="just">
              <a:lnSpc>
                <a:spcPts val="2969"/>
              </a:lnSpc>
            </a:pPr>
          </a:p>
          <a:p>
            <a:pPr algn="just" marL="482010" indent="-241005" lvl="1">
              <a:lnSpc>
                <a:spcPts val="2969"/>
              </a:lnSpc>
              <a:buFont typeface="Arial"/>
              <a:buChar char="•"/>
            </a:pPr>
            <a:r>
              <a:rPr lang="en-US" sz="2232" spc="-62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The model is trained on only a few normal samples and detects deviations from normality.</a:t>
            </a:r>
          </a:p>
          <a:p>
            <a:pPr algn="just">
              <a:lnSpc>
                <a:spcPts val="2969"/>
              </a:lnSpc>
            </a:pPr>
          </a:p>
          <a:p>
            <a:pPr algn="just" marL="482010" indent="-241005" lvl="1">
              <a:lnSpc>
                <a:spcPts val="2969"/>
              </a:lnSpc>
              <a:buFont typeface="Arial"/>
              <a:buChar char="•"/>
            </a:pPr>
            <a:r>
              <a:rPr lang="en-US" sz="2232" spc="-62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It does not require labeled anomalous data, which is beneficial for real-world applications.</a:t>
            </a:r>
          </a:p>
          <a:p>
            <a:pPr algn="just">
              <a:lnSpc>
                <a:spcPts val="2969"/>
              </a:lnSpc>
            </a:pPr>
          </a:p>
          <a:p>
            <a:pPr algn="just" marL="482010" indent="-241005" lvl="1">
              <a:lnSpc>
                <a:spcPts val="2969"/>
              </a:lnSpc>
              <a:buFont typeface="Arial"/>
              <a:buChar char="•"/>
            </a:pPr>
            <a:r>
              <a:rPr lang="en-US" sz="2232" spc="-62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The use of a Siamese network allows the model to map normal data into feature embeddings.</a:t>
            </a:r>
          </a:p>
          <a:p>
            <a:pPr algn="just">
              <a:lnSpc>
                <a:spcPts val="2969"/>
              </a:lnSpc>
            </a:pPr>
          </a:p>
          <a:p>
            <a:pPr algn="just" marL="482010" indent="-241005" lvl="1">
              <a:lnSpc>
                <a:spcPts val="2969"/>
              </a:lnSpc>
              <a:buFont typeface="Arial"/>
              <a:buChar char="•"/>
            </a:pPr>
            <a:r>
              <a:rPr lang="en-US" sz="2232" spc="-62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FewSOME outperforms traditional methods even with very few samples, providing a state-of-the-art solution.</a:t>
            </a:r>
          </a:p>
          <a:p>
            <a:pPr algn="just">
              <a:lnSpc>
                <a:spcPts val="296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87614" y="813489"/>
            <a:ext cx="14841200" cy="68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199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FewSOME: One-Class Few Shot Anomaly Detection With Siamese Networks</a:t>
            </a:r>
          </a:p>
          <a:p>
            <a:pPr algn="ctr">
              <a:lnSpc>
                <a:spcPts val="279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4632" y="1889061"/>
            <a:ext cx="16077707" cy="804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586" indent="-329293" lvl="1">
              <a:lnSpc>
                <a:spcPts val="4057"/>
              </a:lnSpc>
              <a:buFont typeface="Arial"/>
              <a:buChar char="•"/>
            </a:pPr>
            <a:r>
              <a:rPr lang="en-US" sz="3050" spc="-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Siamese networks use two identical sub-networks that share weights to compare data samples.</a:t>
            </a:r>
          </a:p>
          <a:p>
            <a:pPr algn="l" marL="658586" indent="-329293" lvl="1">
              <a:lnSpc>
                <a:spcPts val="4057"/>
              </a:lnSpc>
              <a:buFont typeface="Arial"/>
              <a:buChar char="•"/>
            </a:pPr>
            <a:r>
              <a:rPr lang="en-US" sz="3050" spc="-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network learns to minimize the distance between normal data points in the feature space.</a:t>
            </a:r>
          </a:p>
          <a:p>
            <a:pPr algn="l">
              <a:lnSpc>
                <a:spcPts val="4057"/>
              </a:lnSpc>
            </a:pPr>
          </a:p>
          <a:p>
            <a:pPr algn="l" marL="658586" indent="-329293" lvl="1">
              <a:lnSpc>
                <a:spcPts val="4057"/>
              </a:lnSpc>
              <a:buFont typeface="Arial"/>
              <a:buChar char="•"/>
            </a:pPr>
            <a:r>
              <a:rPr lang="en-US" sz="3050" spc="-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Stop Loss is introduced to prevent representational collapse, ensuring stable learning.</a:t>
            </a:r>
          </a:p>
          <a:p>
            <a:pPr algn="l">
              <a:lnSpc>
                <a:spcPts val="4057"/>
              </a:lnSpc>
            </a:pPr>
          </a:p>
          <a:p>
            <a:pPr algn="l" marL="658586" indent="-329293" lvl="1">
              <a:lnSpc>
                <a:spcPts val="4057"/>
              </a:lnSpc>
              <a:buFont typeface="Arial"/>
              <a:buChar char="•"/>
            </a:pPr>
            <a:r>
              <a:rPr lang="en-US" sz="3050" spc="-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technique allows the model to generalize well even when limited data is available.</a:t>
            </a:r>
          </a:p>
          <a:p>
            <a:pPr algn="l">
              <a:lnSpc>
                <a:spcPts val="4057"/>
              </a:lnSpc>
            </a:pPr>
          </a:p>
          <a:p>
            <a:pPr algn="l" marL="658586" indent="-329293" lvl="1">
              <a:lnSpc>
                <a:spcPts val="4057"/>
              </a:lnSpc>
              <a:buFont typeface="Arial"/>
              <a:buChar char="•"/>
            </a:pPr>
            <a:r>
              <a:rPr lang="en-US" sz="3050" spc="-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use of a shared feature space and the Stop Loss mechanism improves model robustness.</a:t>
            </a:r>
          </a:p>
          <a:p>
            <a:pPr algn="l">
              <a:lnSpc>
                <a:spcPts val="3525"/>
              </a:lnSpc>
            </a:pPr>
          </a:p>
          <a:p>
            <a:pPr algn="l">
              <a:lnSpc>
                <a:spcPts val="3525"/>
              </a:lnSpc>
            </a:pPr>
          </a:p>
          <a:p>
            <a:pPr algn="l">
              <a:lnSpc>
                <a:spcPts val="352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424437" y="447194"/>
            <a:ext cx="943912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Tec</a:t>
            </a:r>
            <a:r>
              <a:rPr lang="en-US" b="true" sz="50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hnology Behind FewSOME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486061" y="1554715"/>
            <a:ext cx="5919398" cy="5704147"/>
          </a:xfrm>
          <a:custGeom>
            <a:avLst/>
            <a:gdLst/>
            <a:ahLst/>
            <a:cxnLst/>
            <a:rect r="r" b="b" t="t" l="l"/>
            <a:pathLst>
              <a:path h="5704147" w="5919398">
                <a:moveTo>
                  <a:pt x="0" y="0"/>
                </a:moveTo>
                <a:lnTo>
                  <a:pt x="5919398" y="0"/>
                </a:lnTo>
                <a:lnTo>
                  <a:pt x="5919398" y="5704147"/>
                </a:lnTo>
                <a:lnTo>
                  <a:pt x="0" y="5704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63354" y="3684140"/>
            <a:ext cx="6972075" cy="1334975"/>
          </a:xfrm>
          <a:custGeom>
            <a:avLst/>
            <a:gdLst/>
            <a:ahLst/>
            <a:cxnLst/>
            <a:rect r="r" b="b" t="t" l="l"/>
            <a:pathLst>
              <a:path h="1334975" w="6972075">
                <a:moveTo>
                  <a:pt x="0" y="0"/>
                </a:moveTo>
                <a:lnTo>
                  <a:pt x="6972075" y="0"/>
                </a:lnTo>
                <a:lnTo>
                  <a:pt x="6972075" y="1334975"/>
                </a:lnTo>
                <a:lnTo>
                  <a:pt x="0" y="1334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962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7983" y="1980578"/>
            <a:ext cx="9817613" cy="602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6423" indent="-258211" lvl="1">
              <a:lnSpc>
                <a:spcPts val="3181"/>
              </a:lnSpc>
              <a:buFont typeface="Arial"/>
              <a:buChar char="•"/>
            </a:pPr>
            <a:r>
              <a:rPr lang="en-US" sz="2391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FewSOME is evaluated on benchmark datasets like MNIST, CIFAR-10, and Fashion-MNIST.</a:t>
            </a:r>
          </a:p>
          <a:p>
            <a:pPr algn="just">
              <a:lnSpc>
                <a:spcPts val="3181"/>
              </a:lnSpc>
            </a:pPr>
          </a:p>
          <a:p>
            <a:pPr algn="just" marL="516423" indent="-258211" lvl="1">
              <a:lnSpc>
                <a:spcPts val="3181"/>
              </a:lnSpc>
              <a:buFont typeface="Arial"/>
              <a:buChar char="•"/>
            </a:pPr>
            <a:r>
              <a:rPr lang="en-US" sz="2391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These datasets provide both image-based and real-world data to assess the model’s performance.</a:t>
            </a:r>
          </a:p>
          <a:p>
            <a:pPr algn="just">
              <a:lnSpc>
                <a:spcPts val="3181"/>
              </a:lnSpc>
            </a:pPr>
          </a:p>
          <a:p>
            <a:pPr algn="just" marL="516423" indent="-258211" lvl="1">
              <a:lnSpc>
                <a:spcPts val="3181"/>
              </a:lnSpc>
              <a:buFont typeface="Arial"/>
              <a:buChar char="•"/>
            </a:pPr>
            <a:r>
              <a:rPr lang="en-US" sz="2391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evaluation metrics include AUC (Area Under the Curve), F1 score, and Balanced Accuracy.</a:t>
            </a:r>
          </a:p>
          <a:p>
            <a:pPr algn="just">
              <a:lnSpc>
                <a:spcPts val="3181"/>
              </a:lnSpc>
            </a:pPr>
          </a:p>
          <a:p>
            <a:pPr algn="just" marL="516423" indent="-258211" lvl="1">
              <a:lnSpc>
                <a:spcPts val="3181"/>
              </a:lnSpc>
              <a:buFont typeface="Arial"/>
              <a:buChar char="•"/>
            </a:pPr>
            <a:r>
              <a:rPr lang="en-US" sz="2391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performance of FewSOME is compared with other anomaly detection methods.</a:t>
            </a:r>
          </a:p>
          <a:p>
            <a:pPr algn="just" marL="516423" indent="-258211" lvl="1">
              <a:lnSpc>
                <a:spcPts val="3181"/>
              </a:lnSpc>
              <a:buFont typeface="Arial"/>
              <a:buChar char="•"/>
            </a:pPr>
            <a:r>
              <a:rPr lang="en-US" sz="2391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FewSOME demonstrates superior results, especially with a small number of normal samples.</a:t>
            </a:r>
          </a:p>
          <a:p>
            <a:pPr algn="just">
              <a:lnSpc>
                <a:spcPts val="3181"/>
              </a:lnSpc>
            </a:pPr>
          </a:p>
          <a:p>
            <a:pPr algn="just">
              <a:lnSpc>
                <a:spcPts val="318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30164" y="268536"/>
            <a:ext cx="13099895" cy="115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9"/>
              </a:lnSpc>
            </a:pPr>
            <a:r>
              <a:rPr lang="en-US" sz="676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an</a:t>
            </a:r>
            <a:r>
              <a:rPr lang="en-US" b="true" sz="67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Evaluation Metrics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85288">
            <a:off x="15595742" y="262509"/>
            <a:ext cx="4630504" cy="4630504"/>
          </a:xfrm>
          <a:custGeom>
            <a:avLst/>
            <a:gdLst/>
            <a:ahLst/>
            <a:cxnLst/>
            <a:rect r="r" b="b" t="t" l="l"/>
            <a:pathLst>
              <a:path h="4630504" w="4630504">
                <a:moveTo>
                  <a:pt x="0" y="0"/>
                </a:moveTo>
                <a:lnTo>
                  <a:pt x="4630504" y="0"/>
                </a:lnTo>
                <a:lnTo>
                  <a:pt x="4630504" y="4630503"/>
                </a:lnTo>
                <a:lnTo>
                  <a:pt x="0" y="463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4638" y="3335100"/>
            <a:ext cx="6562675" cy="2715004"/>
          </a:xfrm>
          <a:custGeom>
            <a:avLst/>
            <a:gdLst/>
            <a:ahLst/>
            <a:cxnLst/>
            <a:rect r="r" b="b" t="t" l="l"/>
            <a:pathLst>
              <a:path h="2715004" w="6562675">
                <a:moveTo>
                  <a:pt x="0" y="0"/>
                </a:moveTo>
                <a:lnTo>
                  <a:pt x="6562675" y="0"/>
                </a:lnTo>
                <a:lnTo>
                  <a:pt x="6562675" y="2715003"/>
                </a:lnTo>
                <a:lnTo>
                  <a:pt x="0" y="2715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836" r="0" b="-620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47002" y="2539660"/>
            <a:ext cx="9412298" cy="4584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paper proposes a domain adaptation-based approach using LSTM autoencoders.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method works by training an anomaly detection classifier on a source domain.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model is then fine-tuned with a small set of nominal instances from the target domain.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MZVAV-2 dataset, used for HVAC systems, contains both normal and faulty data.</a:t>
            </a: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</a:t>
            </a:r>
          </a:p>
          <a:p>
            <a:pPr algn="just">
              <a:lnSpc>
                <a:spcPts val="279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1153" y="518859"/>
            <a:ext cx="1840058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Time-Series Few Shot Anomaly Detection for HVAC Systems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85288">
            <a:off x="15595742" y="262509"/>
            <a:ext cx="4630504" cy="4630504"/>
          </a:xfrm>
          <a:custGeom>
            <a:avLst/>
            <a:gdLst/>
            <a:ahLst/>
            <a:cxnLst/>
            <a:rect r="r" b="b" t="t" l="l"/>
            <a:pathLst>
              <a:path h="4630504" w="4630504">
                <a:moveTo>
                  <a:pt x="0" y="0"/>
                </a:moveTo>
                <a:lnTo>
                  <a:pt x="4630504" y="0"/>
                </a:lnTo>
                <a:lnTo>
                  <a:pt x="4630504" y="4630503"/>
                </a:lnTo>
                <a:lnTo>
                  <a:pt x="0" y="463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1671" y="2898655"/>
            <a:ext cx="14631115" cy="409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899" spc="-8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Dataset: </a:t>
            </a:r>
          </a:p>
          <a:p>
            <a:pPr algn="just">
              <a:lnSpc>
                <a:spcPts val="2793"/>
              </a:lnSpc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dataset used in the study is the MZVAV-2 dataset from the ASHRAE 1312 project, released by Lawrence Berkeley National Laboratory (LBNL) in 2019. It contains real and simulated data from a multi-zone air handling unit in an Iowa building, with both normal operation and faults (e.g., leaking heating coil valve, stuck cooling coil valve). The dataset consists of time-series data with 17 features and a ground truth label indicating faults or normal operation.</a:t>
            </a:r>
          </a:p>
          <a:p>
            <a:pPr algn="just">
              <a:lnSpc>
                <a:spcPts val="2793"/>
              </a:lnSpc>
            </a:pPr>
          </a:p>
          <a:p>
            <a:pPr algn="just">
              <a:lnSpc>
                <a:spcPts val="3324"/>
              </a:lnSpc>
            </a:pPr>
            <a:r>
              <a:rPr lang="en-US" sz="2499" spc="-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499" spc="-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Evaluation:</a:t>
            </a:r>
          </a:p>
          <a:p>
            <a:pPr algn="just">
              <a:lnSpc>
                <a:spcPts val="2793"/>
              </a:lnSpc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model is evaluated using performance metrics like True Positive Rate (TPR), False Positive Rate (FPR), and the Area Under the Receiver Operating Characteristic Curve (AUC-ROC). Results show that the proposed method outperforms unsupervised methods like LSTM-AE and clustering-based autoencoders. It achieved the highest AUC of 0.873 and the best TPR of 0.809 when using three nominal instances from the target domai</a:t>
            </a: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for fine-tuning.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153" y="518859"/>
            <a:ext cx="1840058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Time-Series Few Shot Anomaly Detection for HVAC Systems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82712">
            <a:off x="-1710092" y="-759868"/>
            <a:ext cx="10210559" cy="9690748"/>
          </a:xfrm>
          <a:custGeom>
            <a:avLst/>
            <a:gdLst/>
            <a:ahLst/>
            <a:cxnLst/>
            <a:rect r="r" b="b" t="t" l="l"/>
            <a:pathLst>
              <a:path h="9690748" w="10210559">
                <a:moveTo>
                  <a:pt x="0" y="0"/>
                </a:moveTo>
                <a:lnTo>
                  <a:pt x="10210558" y="0"/>
                </a:lnTo>
                <a:lnTo>
                  <a:pt x="10210558" y="9690749"/>
                </a:lnTo>
                <a:lnTo>
                  <a:pt x="0" y="9690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194623" y="3045555"/>
            <a:ext cx="2985565" cy="4924127"/>
            <a:chOff x="0" y="0"/>
            <a:chExt cx="786322" cy="12968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6322" cy="1296889"/>
            </a:xfrm>
            <a:custGeom>
              <a:avLst/>
              <a:gdLst/>
              <a:ahLst/>
              <a:cxnLst/>
              <a:rect r="r" b="b" t="t" l="l"/>
              <a:pathLst>
                <a:path h="1296889" w="786322">
                  <a:moveTo>
                    <a:pt x="0" y="0"/>
                  </a:moveTo>
                  <a:lnTo>
                    <a:pt x="786322" y="0"/>
                  </a:lnTo>
                  <a:lnTo>
                    <a:pt x="786322" y="1296889"/>
                  </a:lnTo>
                  <a:lnTo>
                    <a:pt x="0" y="1296889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86322" cy="1354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519472" y="2527793"/>
            <a:ext cx="4366808" cy="5441889"/>
            <a:chOff x="0" y="0"/>
            <a:chExt cx="676533" cy="8430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6533" cy="843091"/>
            </a:xfrm>
            <a:custGeom>
              <a:avLst/>
              <a:gdLst/>
              <a:ahLst/>
              <a:cxnLst/>
              <a:rect r="r" b="b" t="t" l="l"/>
              <a:pathLst>
                <a:path h="843091" w="676533">
                  <a:moveTo>
                    <a:pt x="0" y="0"/>
                  </a:moveTo>
                  <a:lnTo>
                    <a:pt x="676533" y="0"/>
                  </a:lnTo>
                  <a:lnTo>
                    <a:pt x="676533" y="843091"/>
                  </a:lnTo>
                  <a:lnTo>
                    <a:pt x="0" y="843091"/>
                  </a:lnTo>
                  <a:close/>
                </a:path>
              </a:pathLst>
            </a:custGeom>
            <a:blipFill>
              <a:blip r:embed="rId4"/>
              <a:stretch>
                <a:fillRect l="-42999" t="0" r="-4299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219119" y="2527793"/>
            <a:ext cx="4366808" cy="5343557"/>
            <a:chOff x="0" y="0"/>
            <a:chExt cx="676533" cy="8278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533" cy="827857"/>
            </a:xfrm>
            <a:custGeom>
              <a:avLst/>
              <a:gdLst/>
              <a:ahLst/>
              <a:cxnLst/>
              <a:rect r="r" b="b" t="t" l="l"/>
              <a:pathLst>
                <a:path h="827857" w="676533">
                  <a:moveTo>
                    <a:pt x="0" y="0"/>
                  </a:moveTo>
                  <a:lnTo>
                    <a:pt x="676533" y="0"/>
                  </a:lnTo>
                  <a:lnTo>
                    <a:pt x="676533" y="827857"/>
                  </a:lnTo>
                  <a:lnTo>
                    <a:pt x="0" y="827857"/>
                  </a:lnTo>
                  <a:close/>
                </a:path>
              </a:pathLst>
            </a:custGeom>
            <a:blipFill>
              <a:blip r:embed="rId5"/>
              <a:stretch>
                <a:fillRect l="-58771" t="0" r="-5877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-2600533" y="2084602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10" y="0"/>
                </a:lnTo>
                <a:lnTo>
                  <a:pt x="4001810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9256" y="2895084"/>
            <a:ext cx="9451992" cy="528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TAMA is a framework that uses large multimodal models (LMMs) for anomaly detection.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transforms time series data into images, making it easier for LMMs to analyze.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framework incorporates a three-step process: Reference Learning, Analyzing, and Self-reflection.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TAMA outperforms traditional methods, especially on real-world datasets like UCR and NASA-SMAP.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method improves both the accuracy of anomaly detection and the interpretability of the results.</a:t>
            </a:r>
          </a:p>
          <a:p>
            <a:pPr algn="just">
              <a:lnSpc>
                <a:spcPts val="279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-450320" y="-133350"/>
            <a:ext cx="17709620" cy="253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3"/>
              </a:lnSpc>
            </a:pPr>
            <a:r>
              <a:rPr lang="en-US" sz="730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730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AMA: Time-Series Anomaly Multimodal Analyzer: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848960"/>
            <a:ext cx="4276885" cy="3390403"/>
          </a:xfrm>
          <a:custGeom>
            <a:avLst/>
            <a:gdLst/>
            <a:ahLst/>
            <a:cxnLst/>
            <a:rect r="r" b="b" t="t" l="l"/>
            <a:pathLst>
              <a:path h="3390403" w="4276885">
                <a:moveTo>
                  <a:pt x="0" y="0"/>
                </a:moveTo>
                <a:lnTo>
                  <a:pt x="4276885" y="0"/>
                </a:lnTo>
                <a:lnTo>
                  <a:pt x="4276885" y="3390403"/>
                </a:lnTo>
                <a:lnTo>
                  <a:pt x="0" y="3390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17552" y="2120176"/>
            <a:ext cx="11503263" cy="598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2151" indent="-256076" lvl="1">
              <a:lnSpc>
                <a:spcPts val="3154"/>
              </a:lnSpc>
              <a:buFont typeface="Arial"/>
              <a:buChar char="•"/>
            </a:pPr>
            <a:r>
              <a:rPr lang="en-US" sz="2372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FastRecon uses a few-shot anomaly detection approach based on feature reconstruction.</a:t>
            </a:r>
          </a:p>
          <a:p>
            <a:pPr algn="just">
              <a:lnSpc>
                <a:spcPts val="3154"/>
              </a:lnSpc>
            </a:pPr>
          </a:p>
          <a:p>
            <a:pPr algn="just" marL="512151" indent="-256076" lvl="1">
              <a:lnSpc>
                <a:spcPts val="3154"/>
              </a:lnSpc>
              <a:buFont typeface="Arial"/>
              <a:buChar char="•"/>
            </a:pPr>
            <a:r>
              <a:rPr lang="en-US" sz="2372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model reconstructs normal data from a small set of reference samples and compares it to the query sample.</a:t>
            </a:r>
          </a:p>
          <a:p>
            <a:pPr algn="just">
              <a:lnSpc>
                <a:spcPts val="3154"/>
              </a:lnSpc>
            </a:pPr>
          </a:p>
          <a:p>
            <a:pPr algn="just" marL="512151" indent="-256076" lvl="1">
              <a:lnSpc>
                <a:spcPts val="3154"/>
              </a:lnSpc>
              <a:buFont typeface="Arial"/>
              <a:buChar char="•"/>
            </a:pPr>
            <a:r>
              <a:rPr lang="en-US" sz="2372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method is evaluated on industrial datasets like MVTec AD and MPDD.</a:t>
            </a:r>
          </a:p>
          <a:p>
            <a:pPr algn="just">
              <a:lnSpc>
                <a:spcPts val="3154"/>
              </a:lnSpc>
            </a:pPr>
          </a:p>
          <a:p>
            <a:pPr algn="just" marL="512151" indent="-256076" lvl="1">
              <a:lnSpc>
                <a:spcPts val="3154"/>
              </a:lnSpc>
              <a:buFont typeface="Arial"/>
              <a:buChar char="•"/>
            </a:pPr>
            <a:r>
              <a:rPr lang="en-US" sz="2372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FastRecon performs well even with 2-shot, 4-shot, and 8-shot settings, which are typical in real-world applications.</a:t>
            </a:r>
          </a:p>
          <a:p>
            <a:pPr algn="just">
              <a:lnSpc>
                <a:spcPts val="3154"/>
              </a:lnSpc>
            </a:pPr>
          </a:p>
          <a:p>
            <a:pPr algn="just" marL="512151" indent="-256076" lvl="1">
              <a:lnSpc>
                <a:spcPts val="3154"/>
              </a:lnSpc>
              <a:buFont typeface="Arial"/>
              <a:buChar char="•"/>
            </a:pPr>
            <a:r>
              <a:rPr lang="en-US" sz="2372" spc="-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outperforms other methods like GANomaly and PatchCore in both image-level and pixel-level anomaly detection.</a:t>
            </a:r>
          </a:p>
          <a:p>
            <a:pPr algn="just">
              <a:lnSpc>
                <a:spcPts val="3154"/>
              </a:lnSpc>
            </a:pPr>
          </a:p>
          <a:p>
            <a:pPr algn="just">
              <a:lnSpc>
                <a:spcPts val="315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306817" y="1295381"/>
            <a:ext cx="4335517" cy="4114800"/>
          </a:xfrm>
          <a:custGeom>
            <a:avLst/>
            <a:gdLst/>
            <a:ahLst/>
            <a:cxnLst/>
            <a:rect r="r" b="b" t="t" l="l"/>
            <a:pathLst>
              <a:path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32782" y="4544162"/>
            <a:ext cx="4335517" cy="4114800"/>
          </a:xfrm>
          <a:custGeom>
            <a:avLst/>
            <a:gdLst/>
            <a:ahLst/>
            <a:cxnLst/>
            <a:rect r="r" b="b" t="t" l="l"/>
            <a:pathLst>
              <a:path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737751"/>
            <a:ext cx="17603980" cy="86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8"/>
              </a:lnSpc>
            </a:pPr>
            <a:r>
              <a:rPr lang="en-US" sz="505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FastRecon: Few-shot In</a:t>
            </a:r>
            <a:r>
              <a:rPr lang="en-US" b="true" sz="50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dustrial Anomaly Detection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351108"/>
            <a:ext cx="15585135" cy="582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0294" indent="-325147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MOS</a:t>
            </a:r>
            <a:r>
              <a:rPr lang="en-US" sz="30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 is designed for open-set time-series anomaly detection, where only a few labeled anomalies are provided during training.</a:t>
            </a:r>
          </a:p>
          <a:p>
            <a:pPr algn="ctr" marL="650294" indent="-325147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model uses a multi-head network consisting of generative, discriminative, and contrastive heads.</a:t>
            </a:r>
          </a:p>
          <a:p>
            <a:pPr algn="ctr" marL="650294" indent="-325147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capable of detecting both seen and unseen anomalies, making it more adaptable.</a:t>
            </a:r>
          </a:p>
          <a:p>
            <a:pPr algn="ctr" marL="650294" indent="-325147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method is evaluated on several real-world datasets, including server data and biomedical data.</a:t>
            </a:r>
          </a:p>
          <a:p>
            <a:pPr algn="ctr" marL="650294" indent="-325147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MOSAD outperforms traditional methods in both unsupervised and supervised settings, providing superior performance.</a:t>
            </a:r>
          </a:p>
          <a:p>
            <a:pPr algn="ctr">
              <a:lnSpc>
                <a:spcPts val="421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047" y="490226"/>
            <a:ext cx="18288000" cy="96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Open-Set</a:t>
            </a:r>
            <a:r>
              <a:rPr lang="en-US" b="true" sz="5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Time-Series Anomaly Detection (MOSAD)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023" y="1867597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64572" y="2165115"/>
            <a:ext cx="15300903" cy="721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3313" indent="-401657" lvl="1">
              <a:lnSpc>
                <a:spcPts val="5209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Few-shot anomaly detection techniques offer significant advantages when data is scarce.</a:t>
            </a:r>
          </a:p>
          <a:p>
            <a:pPr algn="ctr" marL="803313" indent="-401657" lvl="1">
              <a:lnSpc>
                <a:spcPts val="5209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Methods like FewSOME, FastRecon, and MOSAD provide robust solutions for time-series anomaly detection.</a:t>
            </a:r>
          </a:p>
          <a:p>
            <a:pPr algn="ctr" marL="803313" indent="-401657" lvl="1">
              <a:lnSpc>
                <a:spcPts val="5209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field is evolving with more advanced methods incorporating multimodal models and domain adaptation.</a:t>
            </a:r>
          </a:p>
          <a:p>
            <a:pPr algn="ctr" marL="803313" indent="-401657" lvl="1">
              <a:lnSpc>
                <a:spcPts val="5209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Future research should focus on improving model scalability and interpretability.</a:t>
            </a:r>
          </a:p>
          <a:p>
            <a:pPr algn="ctr" marL="803313" indent="-401657" lvl="1">
              <a:lnSpc>
                <a:spcPts val="5209"/>
              </a:lnSpc>
              <a:buFont typeface="Arial"/>
              <a:buChar char="•"/>
            </a:pPr>
            <a:r>
              <a:rPr lang="en-US" sz="37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 anomaly detection becomes more critical across industries, these methods will play a vital role in real-world applications.</a:t>
            </a:r>
          </a:p>
          <a:p>
            <a:pPr algn="ctr">
              <a:lnSpc>
                <a:spcPts val="520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787484"/>
            <a:ext cx="18288000" cy="96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</a:t>
            </a:r>
            <a:r>
              <a:rPr lang="en-US" sz="5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nclu</a:t>
            </a:r>
            <a:r>
              <a:rPr lang="en-US" b="true" sz="5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sion and Future Directions: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53751" y="1249117"/>
            <a:ext cx="9185483" cy="7626841"/>
          </a:xfrm>
          <a:custGeom>
            <a:avLst/>
            <a:gdLst/>
            <a:ahLst/>
            <a:cxnLst/>
            <a:rect r="r" b="b" t="t" l="l"/>
            <a:pathLst>
              <a:path h="7626841" w="9185483">
                <a:moveTo>
                  <a:pt x="0" y="0"/>
                </a:moveTo>
                <a:lnTo>
                  <a:pt x="9185483" y="0"/>
                </a:lnTo>
                <a:lnTo>
                  <a:pt x="9185483" y="7626841"/>
                </a:lnTo>
                <a:lnTo>
                  <a:pt x="0" y="7626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04405" y="3203404"/>
            <a:ext cx="14079189" cy="104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5"/>
              </a:lnSpc>
            </a:pPr>
            <a:r>
              <a:rPr lang="en-US" sz="8242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DAG5uP98Myo</dc:identifier>
  <dcterms:modified xsi:type="dcterms:W3CDTF">2011-08-01T06:04:30Z</dcterms:modified>
  <cp:revision>1</cp:revision>
  <dc:title>cse499A</dc:title>
</cp:coreProperties>
</file>